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99786875da4965" /><Relationship Type="http://schemas.openxmlformats.org/officeDocument/2006/relationships/extended-properties" Target="/docProps/app.xml" Id="R1399809bafda492b" /><Relationship Type="http://schemas.openxmlformats.org/officeDocument/2006/relationships/officeDocument" Target="/ppt/presentation.xml" Id="R9e95064659344a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cd65bf0a564bad"/>
  </p:sldMasterIdLst>
  <p:notesMasterIdLst>
    <p:notesMasterId xmlns:r="http://schemas.openxmlformats.org/officeDocument/2006/relationships" r:id="R6986e31bf0274e98"/>
  </p:notesMasterIdLst>
  <p:sldIdLst>
    <p:sldId xmlns:r="http://schemas.openxmlformats.org/officeDocument/2006/relationships" id="256" r:id="Rd3dc993b2dfa4cff"/>
    <p:sldId xmlns:r="http://schemas.openxmlformats.org/officeDocument/2006/relationships" id="257" r:id="Re62766092a0d471a"/>
    <p:sldId xmlns:r="http://schemas.openxmlformats.org/officeDocument/2006/relationships" id="258" r:id="R9ad757bcea314e58"/>
    <p:sldId xmlns:r="http://schemas.openxmlformats.org/officeDocument/2006/relationships" id="259" r:id="Rf902c0b5eb804dd6"/>
    <p:sldId xmlns:r="http://schemas.openxmlformats.org/officeDocument/2006/relationships" id="260" r:id="R8407cc91803d45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2d1ad2a8a94812" /><Relationship Type="http://schemas.openxmlformats.org/officeDocument/2006/relationships/slideMaster" Target="/ppt/slideMasters/slideMaster1.xml" Id="Rcccd65bf0a564bad" /><Relationship Type="http://schemas.openxmlformats.org/officeDocument/2006/relationships/notesMaster" Target="/ppt/notesMasters/notesMaster1.xml" Id="R6986e31bf0274e98" /><Relationship Type="http://schemas.openxmlformats.org/officeDocument/2006/relationships/presProps" Target="/ppt/presProps.xml" Id="Rebc6778435e44a15" /><Relationship Type="http://schemas.openxmlformats.org/officeDocument/2006/relationships/tableStyles" Target="/ppt/tableStyles.xml" Id="Ra345a97b693443b2" /><Relationship Type="http://schemas.openxmlformats.org/officeDocument/2006/relationships/slide" Target="/ppt/slides/slide1.xml" Id="Rd3dc993b2dfa4cff" /><Relationship Type="http://schemas.openxmlformats.org/officeDocument/2006/relationships/slide" Target="/ppt/slides/slide2.xml" Id="Re62766092a0d471a" /><Relationship Type="http://schemas.openxmlformats.org/officeDocument/2006/relationships/slide" Target="/ppt/slides/slide3.xml" Id="R9ad757bcea314e58" /><Relationship Type="http://schemas.openxmlformats.org/officeDocument/2006/relationships/slide" Target="/ppt/slides/slide4.xml" Id="Rf902c0b5eb804dd6" /><Relationship Type="http://schemas.openxmlformats.org/officeDocument/2006/relationships/slide" Target="/ppt/slides/slide5.xml" Id="R8407cc91803d45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6d5f7f4df24b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504aab885a4bf3" /><Relationship Type="http://schemas.openxmlformats.org/officeDocument/2006/relationships/notesMaster" Target="/ppt/notesMasters/notesMaster1.xml" Id="Rf78f2e079d0d47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6ebdbf9c684852" /><Relationship Type="http://schemas.openxmlformats.org/officeDocument/2006/relationships/notesMaster" Target="/ppt/notesMasters/notesMaster1.xml" Id="Re38ef1565cb74e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cff4ed60c2441c" /><Relationship Type="http://schemas.openxmlformats.org/officeDocument/2006/relationships/notesMaster" Target="/ppt/notesMasters/notesMaster1.xml" Id="Ra2355381316c4e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1b14212f854a11" /><Relationship Type="http://schemas.openxmlformats.org/officeDocument/2006/relationships/notesMaster" Target="/ppt/notesMasters/notesMaster1.xml" Id="Rc95d88688f624b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a22c005fc84af6" /><Relationship Type="http://schemas.openxmlformats.org/officeDocument/2006/relationships/notesMaster" Target="/ppt/notesMasters/notesMaster1.xml" Id="Reb685a36ad7343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Нефть представляет собой природную жидкую смесь углеводородов с примесями. Она формируется из древнего органического вещества в осадочных бассейнах под действием температуры и давления в течение миллионов лет. Нефть служит сырьём для производства топлива и различных материалов.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Справочный материал по теме: U.S. EIA, Oil and petroleum products explained, https://www.eia.gov/energyexplained/oil-and-petroleum-products/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Фотография перерабатывающего предприятия из интернета: https://github.com/Versity1/oil-and-gas/blob/b36f775c3eab75b2f2f6e6fd371ddba62eed575a/core_app/static/images/refinery_plant.jpg. Конкретное предприятие и автор исходной фотографии в использованном репозитории не указаны.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нефть добывают через скважины на суше и на море. На промысле отделяют газ, воду и примеси. На нефтеперерабатывающем заводе нефть разделяют на фракции и дополнительно перерабатывают. Часть продуктов становится сырьём нефтехимии. Например, углеводородное сырьё перерабатывают в мономеры, из которых получают полимеры. Это упрощённая схема, а не полный технологический регламент.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Справочный материал по теме: U.S. EIA, Oil and petroleum products explained, https://www.eia.gov/energyexplained/oil-and-petroleum-products/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Фотография морской платформы из интернета: https://github.com/Versity1/oil-and-gas/blob/b36f775c3eab75b2f2f6e6fd371ddba62eed575a/core_app/static/images/offshore_platform.jpg. Место съёмки и автор не установлены по использованному источнику.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Energy Institute, Statistical Review of World Energy (2025), через Our World in Data. Использован полный 2024 год, а не оперативные месячные оценки.</a:t>
            </a:r>
          </a:p>
          <a:p xmlns:a="http://schemas.openxmlformats.org/drawingml/2006/main">
            <a:r>
              <a:t>https://raw.githubusercontent.com/owid/energy-data/master/owid-energy-data.csv</a:t>
            </a:r>
          </a:p>
          <a:p xmlns:a="http://schemas.openxmlformats.org/drawingml/2006/main">
            <a:r>
              <a:t>Кодировка показателя: oil_production, ТВт·ч. Весь мир: 52831.051 ТВт·ч. Доли рассчитаны как добыча страны, делённая на мировую добычу, и умноженная на 100. В рейтинг включены страны с трёхбуквенными ISO-кодами. Это сравнение добычи по энергетическому содержанию, а не по объёму в баррелях. Рейтинг по другой единице измерения может отличаться. Показатель Energy Institute включает сырую нефть, конденсат и природные газовые жидкости согласно методологии источника. Значения округлены для показа.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[{"name":"США","share":18.89,"twh":9977.384},{"name":"Россия","share":11.59,"twh":6121.835},{"name":"Саудовская Аравия","share":11.23,"twh":5933.262},{"name":"Канада","share":6.38,"twh":3372.073},{"name":"Иран","share":5.16,"twh":2726.667},{"name":"Ирак","share":4.75,"twh":2507.699},{"name":"Китай","share":4.69,"twh":2475.922},{"name":"Бразилия","share":4.01,"twh":2117.55},{"name":"ОАЭ","share":3.96,"twh":2090.457},{"name":"Кувейт","share":2.88,"twh":1520.714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Основные нетопливные применения нефти и нефтехимического сырья: пластмассы, синтетические волокна (полиэстер и нейлон), синтетические каучуки, битум, смазочные материалы, краски, растворители и парафин. У некоторых перечисленных материалов есть и альтернативное сырьё, включая природный газ и возобновляемые источники. Наличие предмета в списке не означает, что он обязательно целиком изготовлен из нефти. Шины содержат смесь компонентов, в том числе натуральный и синтетический каучук.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Справочный материал по теме: U.S. EIA, Oil and petroleum products explained, https://www.eia.gov/energyexplained/oil-and-petroleum-products/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Концептуальная иллюстрация нефтехимических продуктов создана с помощью OpenAI ImageGen, не является фотографией.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Разливы нефти загрязняют почву и воду и могут вредить экосистемам. При сжигании нефтяного топлива выделяется углекислый газ. Добыча и транспортировка могут сопровождаться утечками. Многие обычные пластмассы медленно разлагаются в природных условиях и создают проблему отходов. Снижение рисков требует предотвращения утечек, контроля оборудования, сбора и переработки отходов и уменьшения ненужного потребления материалов. Переработка возможна не для всех материалов и изделий и зависит от технологии и местной инфраструктуры.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Справочный материал по теме: U.S. EIA, Oil and petroleum products explained, https://www.eia.gov/energyexplained/oil-and-petroleum-products/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Фотография оборудования и работника из интернета: https://github.com/Versity1/oil-and-gas/blob/b36f775c3eab75b2f2f6e6fd371ddba62eed575a/core_app/static/images/pipeline_worker.jpg. Автор исходной фотографии в использованном репозитории не указан.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00d0cd5be45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48884607642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9d1f31509a4a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1a3fb9c204b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631c98a7b40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0fe0e3e4240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92B083-E077-4065-976A-309056B29D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820B70-55F9-4B7D-9714-41343B8C13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2F082C-8454-414E-92D4-761C439915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91469F-B06F-406F-8B89-3B6E208F64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EE0EAC-0C83-4E17-90AA-3AE5A5EC26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CB5754-DC58-432C-9AB7-4FD724ED9E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A23F54-ED54-40C3-89F3-F307C8792C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2FC95B-9B90-4B92-8D5E-9220A7B4A5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04DB11-C4F3-47BF-859C-AF028A6D8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0834A2-240F-4684-A517-BBCE41D614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957fc4764a44d8" /><Relationship Type="http://schemas.openxmlformats.org/officeDocument/2006/relationships/slideLayout" Target="/ppt/slideLayouts/slideLayout1.xml" Id="Rab286593da544f65" /><Relationship Type="http://schemas.openxmlformats.org/officeDocument/2006/relationships/slideLayout" Target="/ppt/slideLayouts/slideLayout2.xml" Id="R22bec740e4944b51" /><Relationship Type="http://schemas.openxmlformats.org/officeDocument/2006/relationships/slideLayout" Target="/ppt/slideLayouts/slideLayout3.xml" Id="R0726fc6e4b4a4923" /><Relationship Type="http://schemas.openxmlformats.org/officeDocument/2006/relationships/slideLayout" Target="/ppt/slideLayouts/slideLayout4.xml" Id="R8b4b4eb8969d4311" /><Relationship Type="http://schemas.openxmlformats.org/officeDocument/2006/relationships/slideLayout" Target="/ppt/slideLayouts/slideLayout5.xml" Id="Rd871fff64a57484e" /><Relationship Type="http://schemas.openxmlformats.org/officeDocument/2006/relationships/slideLayout" Target="/ppt/slideLayouts/slideLayout6.xml" Id="R34423e10f1724d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286593da544f65"/>
    <p:sldLayoutId xmlns:r="http://schemas.openxmlformats.org/officeDocument/2006/relationships" id="2147483650" r:id="R22bec740e4944b51"/>
    <p:sldLayoutId xmlns:r="http://schemas.openxmlformats.org/officeDocument/2006/relationships" id="2147483651" r:id="R0726fc6e4b4a4923"/>
    <p:sldLayoutId xmlns:r="http://schemas.openxmlformats.org/officeDocument/2006/relationships" id="2147483652" r:id="R8b4b4eb8969d4311"/>
    <p:sldLayoutId xmlns:r="http://schemas.openxmlformats.org/officeDocument/2006/relationships" id="2147483653" r:id="Rd871fff64a57484e"/>
    <p:sldLayoutId xmlns:r="http://schemas.openxmlformats.org/officeDocument/2006/relationships" id="2147483654" r:id="R34423e10f1724d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29c7ced4024b01" /><Relationship Type="http://schemas.openxmlformats.org/officeDocument/2006/relationships/image" Target="/ppt/media/image.jpeg" Id="Ra47254165e844756" /><Relationship Type="http://schemas.openxmlformats.org/officeDocument/2006/relationships/notesSlide" Target="/ppt/notesSlides/notesSlide1.xml" Id="R958b7e0684c74d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8ebdb711354baf" /><Relationship Type="http://schemas.openxmlformats.org/officeDocument/2006/relationships/image" Target="/ppt/media/image2.jpeg" Id="R0bdfde5aa57b4916" /><Relationship Type="http://schemas.openxmlformats.org/officeDocument/2006/relationships/notesSlide" Target="/ppt/notesSlides/notesSlide2.xml" Id="R3577643a77384e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8a954b6794488" /><Relationship Type="http://schemas.openxmlformats.org/officeDocument/2006/relationships/chart" Target="/ppt/slides/charts/chart1.xml" Id="R4c27756f549640f3" /><Relationship Type="http://schemas.openxmlformats.org/officeDocument/2006/relationships/notesSlide" Target="/ppt/notesSlides/notesSlide3.xml" Id="R5b8403845ce041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8394cf496b4e09" /><Relationship Type="http://schemas.openxmlformats.org/officeDocument/2006/relationships/image" Target="/ppt/media/image.png" Id="R62f6ea4ded79406e" /><Relationship Type="http://schemas.openxmlformats.org/officeDocument/2006/relationships/notesSlide" Target="/ppt/notesSlides/notesSlide4.xml" Id="Ra61cb33a8d6d4f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b7dc9ab85b49f7" /><Relationship Type="http://schemas.openxmlformats.org/officeDocument/2006/relationships/image" Target="/ppt/media/image3.jpeg" Id="R2d364d32af324c61" /><Relationship Type="http://schemas.openxmlformats.org/officeDocument/2006/relationships/notesSlide" Target="/ppt/notesSlides/notesSlide5.xml" Id="Rd435d47a0b604ea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Доля в мировой добыче, %</c:v>
          </c:tx>
          <c:spPr>
            <a:solidFill xmlns:a="http://schemas.openxmlformats.org/drawingml/2006/main">
              <a:srgbClr val="145CF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45CF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45C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45CF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45CFF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45CFF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45CFF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145CFF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145CFF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145CFF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29DCFF"/>
              </a:solidFill>
            </c:spPr>
          </c:dPt>
          <c:cat>
            <c:strRef>
              <c:f>'Chart Data'!$A$2:$A$11</c:f>
              <c:strCache>
                <c:ptCount val="10"/>
                <c:pt idx="0">
                  <c:v>10. Кувейт</c:v>
                </c:pt>
                <c:pt idx="1">
                  <c:v>9. ОАЭ</c:v>
                </c:pt>
                <c:pt idx="2">
                  <c:v>8. Бразилия</c:v>
                </c:pt>
                <c:pt idx="3">
                  <c:v>7. Китай</c:v>
                </c:pt>
                <c:pt idx="4">
                  <c:v>6. Ирак</c:v>
                </c:pt>
                <c:pt idx="5">
                  <c:v>5. Иран</c:v>
                </c:pt>
                <c:pt idx="6">
                  <c:v>4. Канада</c:v>
                </c:pt>
                <c:pt idx="7">
                  <c:v>3. Саудовская Аравия</c:v>
                </c:pt>
                <c:pt idx="8">
                  <c:v>2. Россия</c:v>
                </c:pt>
                <c:pt idx="9">
                  <c:v>1. США</c:v>
                </c:pt>
              </c:strCache>
            </c:strRef>
          </c:cat>
          <c:val>
            <c:numRef>
              <c:f>'Chart Data'!$B$2:$B$11</c:f>
              <c:numCache>
                <c:formatCode>0.0"%"</c:formatCode>
                <c:ptCount val="10"/>
                <c:pt idx="0">
                  <c:v>2.88</c:v>
                </c:pt>
                <c:pt idx="1">
                  <c:v>3.96</c:v>
                </c:pt>
                <c:pt idx="2">
                  <c:v>4.01</c:v>
                </c:pt>
                <c:pt idx="3">
                  <c:v>4.69</c:v>
                </c:pt>
                <c:pt idx="4">
                  <c:v>4.75</c:v>
                </c:pt>
                <c:pt idx="5">
                  <c:v>5.16</c:v>
                </c:pt>
                <c:pt idx="6">
                  <c:v>6.38</c:v>
                </c:pt>
                <c:pt idx="7">
                  <c:v>11.23</c:v>
                </c:pt>
                <c:pt idx="8">
                  <c:v>11.59</c:v>
                </c:pt>
                <c:pt idx="9">
                  <c:v>18.89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1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61A3A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61A3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20F590EC-B3F1-4101-AE38-EC3AC119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9D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9DC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9DCFF"/>
                </a:solidFill>
                <a:latin typeface="Arial"/>
                <a:ea typeface="Arial"/>
                <a:cs typeface="Arial"/>
              </a:rPr>
              <a:t>СЫРЬЁ, КОТОРОЕ НАС ОКРУЖАЕТ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C25B9F4-0676-4581-BB8A-4632CA0A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65722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НЕФТЬ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0248C19-4644-4470-8786-A40EAC54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143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 месторождения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повседневных вещей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0ABB908-3649-4EFD-BEF8-9E2342D5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ED3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BED3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D3F5"/>
                </a:solidFill>
                <a:latin typeface="Arial"/>
                <a:ea typeface="Arial"/>
                <a:cs typeface="Arial"/>
              </a:rPr>
              <a:t>Природная смесь углеводородов.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BED3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D3F5"/>
                </a:solidFill>
                <a:latin typeface="Arial"/>
                <a:ea typeface="Arial"/>
                <a:cs typeface="Arial"/>
              </a:rPr>
              <a:t>Из неё получают топливо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BED3F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D3F5"/>
                </a:solidFill>
                <a:latin typeface="Arial"/>
                <a:ea typeface="Arial"/>
                <a:cs typeface="Arial"/>
              </a:rPr>
              <a:t>и сырьё для материалов.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DDC7C-C304-4C41-A521-015B980841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254165e844756"/>
          <a:srcRect xmlns:a="http://schemas.openxmlformats.org/drawingml/2006/main" l="22350" t="0" r="223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1438275"/>
            <a:ext cx="4438650" cy="4514850"/>
          </a:xfrm>
          <a:prstGeom xmlns:a="http://schemas.openxmlformats.org/drawingml/2006/main" prst="rect">
            <a:avLst/>
          </a:prstGeom>
        </p:spPr>
      </p:pic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0DF6EB3-D7F4-4D77-924C-775D1CD2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6D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B6D1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D1FF"/>
                </a:solidFill>
                <a:latin typeface="Arial"/>
                <a:ea typeface="Arial"/>
                <a:cs typeface="Arial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1467444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6">
            <a:extLst xmlns:a="http://schemas.openxmlformats.org/drawingml/2006/main">
              <a:ext uri="{FF2B5EF4-FFF2-40B4-BE49-F238E27FC236}">
                <a16:creationId xmlns:a16="http://schemas.microsoft.com/office/drawing/2014/main" id="{AB870C77-5012-4CB7-BB2A-54FDB851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122B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975" b="1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22B50"/>
                </a:solidFill>
                <a:latin typeface="Arial"/>
                <a:ea typeface="Arial"/>
                <a:cs typeface="Arial"/>
              </a:rPr>
              <a:t>От скважины до материалов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47CC3-3ABF-4F38-80D6-E068FA5009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fde5aa57b4916"/>
          <a:stretch xmlns:a="http://schemas.openxmlformats.org/drawingml/2006/main"/>
        </p:blipFill>
        <p:spPr>
          <a:xfrm xmlns:a="http://schemas.openxmlformats.org/drawingml/2006/main">
            <a:off x="611604" y="2028825"/>
            <a:ext cx="4167942" cy="2781300"/>
          </a:xfrm>
          <a:prstGeom xmlns:a="http://schemas.openxmlformats.org/drawingml/2006/main" prst="rect">
            <a:avLst/>
          </a:prstGeom>
        </p:spPr>
      </p:pic>
      <p:sp>
        <p:nvSpPr>
          <p:cNvPr id="3" name="text-7">
            <a:extLst xmlns:a="http://schemas.openxmlformats.org/drawingml/2006/main">
              <a:ext uri="{FF2B5EF4-FFF2-40B4-BE49-F238E27FC236}">
                <a16:creationId xmlns:a16="http://schemas.microsoft.com/office/drawing/2014/main" id="{1230E506-866A-49CC-B28A-A2447896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5CFF"/>
                </a:solidFill>
                <a:latin typeface="Arial"/>
                <a:ea typeface="Arial"/>
                <a:cs typeface="Arial"/>
              </a:rPr>
              <a:t>Морская добыча нефти</a:t>
            </a:r>
          </a:p>
        </p:txBody>
      </p:sp>
      <p:sp>
        <p:nvSpPr>
          <p:cNvPr id="4" name="text-8">
            <a:extLst xmlns:a="http://schemas.openxmlformats.org/drawingml/2006/main">
              <a:ext uri="{FF2B5EF4-FFF2-40B4-BE49-F238E27FC236}">
                <a16:creationId xmlns:a16="http://schemas.microsoft.com/office/drawing/2014/main" id="{C5767952-7E3F-47C2-AFDA-3F0F34FD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71650"/>
            <a:ext cx="69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5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9">
            <a:extLst xmlns:a="http://schemas.openxmlformats.org/drawingml/2006/main">
              <a:ext uri="{FF2B5EF4-FFF2-40B4-BE49-F238E27FC236}">
                <a16:creationId xmlns:a16="http://schemas.microsoft.com/office/drawing/2014/main" id="{6C6D2C40-B21F-40CA-A062-95DCF4C5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7165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22B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2B50"/>
                </a:solidFill>
                <a:latin typeface="Arial"/>
                <a:ea typeface="Arial"/>
                <a:cs typeface="Arial"/>
              </a:rPr>
              <a:t>Добыча</a:t>
            </a:r>
          </a:p>
        </p:txBody>
      </p:sp>
      <p:sp>
        <p:nvSpPr>
          <p:cNvPr id="6" name="text-10">
            <a:extLst xmlns:a="http://schemas.openxmlformats.org/drawingml/2006/main">
              <a:ext uri="{FF2B5EF4-FFF2-40B4-BE49-F238E27FC236}">
                <a16:creationId xmlns:a16="http://schemas.microsoft.com/office/drawing/2014/main" id="{3E56F303-AC1D-4B49-82DE-711B1A4B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0980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70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709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7095"/>
                </a:solidFill>
                <a:latin typeface="Arial"/>
                <a:ea typeface="Arial"/>
                <a:cs typeface="Arial"/>
              </a:rPr>
              <a:t>Скважины на суше и на море</a:t>
            </a:r>
          </a:p>
        </p:txBody>
      </p:sp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BA9DDC5D-0CD3-4C45-A3E7-F3A920C8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62250"/>
            <a:ext cx="69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5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BA2F56B2-4E85-48F0-B25A-BC3CACDF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76225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22B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2B50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D5C8CEDD-0C58-422F-AC83-96159979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0040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70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709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7095"/>
                </a:solidFill>
                <a:latin typeface="Arial"/>
                <a:ea typeface="Arial"/>
                <a:cs typeface="Arial"/>
              </a:rPr>
              <a:t>Отделяют воду, газ и примеси</a:t>
            </a:r>
          </a:p>
        </p:txBody>
      </p:sp>
      <p:sp>
        <p:nvSpPr>
          <p:cNvPr id="10" name="text-14">
            <a:extLst xmlns:a="http://schemas.openxmlformats.org/drawingml/2006/main">
              <a:ext uri="{FF2B5EF4-FFF2-40B4-BE49-F238E27FC236}">
                <a16:creationId xmlns:a16="http://schemas.microsoft.com/office/drawing/2014/main" id="{FB5392D2-35DF-42A0-AF17-4A5B1B0D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52850"/>
            <a:ext cx="69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5C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5">
            <a:extLst xmlns:a="http://schemas.openxmlformats.org/drawingml/2006/main">
              <a:ext uri="{FF2B5EF4-FFF2-40B4-BE49-F238E27FC236}">
                <a16:creationId xmlns:a16="http://schemas.microsoft.com/office/drawing/2014/main" id="{CC0002EA-0033-4D2A-91EB-229399F4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5285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22B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2B50"/>
                </a:solidFill>
                <a:latin typeface="Arial"/>
                <a:ea typeface="Arial"/>
                <a:cs typeface="Arial"/>
              </a:rPr>
              <a:t>Переработка</a:t>
            </a:r>
          </a:p>
        </p:txBody>
      </p:sp>
      <p:sp>
        <p:nvSpPr>
          <p:cNvPr id="12" name="text-16">
            <a:extLst xmlns:a="http://schemas.openxmlformats.org/drawingml/2006/main">
              <a:ext uri="{FF2B5EF4-FFF2-40B4-BE49-F238E27FC236}">
                <a16:creationId xmlns:a16="http://schemas.microsoft.com/office/drawing/2014/main" id="{07B7B6EF-C80A-4B51-AA3D-3B30BA04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9100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70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709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7095"/>
                </a:solidFill>
                <a:latin typeface="Arial"/>
                <a:ea typeface="Arial"/>
                <a:cs typeface="Arial"/>
              </a:rPr>
              <a:t>Разделяют нефть на фракции</a:t>
            </a:r>
          </a:p>
        </p:txBody>
      </p:sp>
      <p:sp>
        <p:nvSpPr>
          <p:cNvPr id="13" name="text-17">
            <a:extLst xmlns:a="http://schemas.openxmlformats.org/drawingml/2006/main">
              <a:ext uri="{FF2B5EF4-FFF2-40B4-BE49-F238E27FC236}">
                <a16:creationId xmlns:a16="http://schemas.microsoft.com/office/drawing/2014/main" id="{7D30C5E9-1EA8-4C95-A62B-D6A725DD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43450"/>
            <a:ext cx="695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5C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text-18">
            <a:extLst xmlns:a="http://schemas.openxmlformats.org/drawingml/2006/main">
              <a:ext uri="{FF2B5EF4-FFF2-40B4-BE49-F238E27FC236}">
                <a16:creationId xmlns:a16="http://schemas.microsoft.com/office/drawing/2014/main" id="{72A6508C-49E9-4C44-AF24-41159774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4345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22B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2B50"/>
                </a:solidFill>
                <a:latin typeface="Arial"/>
                <a:ea typeface="Arial"/>
                <a:cs typeface="Arial"/>
              </a:rPr>
              <a:t>Нефтехимия</a:t>
            </a:r>
          </a:p>
        </p:txBody>
      </p:sp>
      <p:sp>
        <p:nvSpPr>
          <p:cNvPr id="15" name="text-19">
            <a:extLst xmlns:a="http://schemas.openxmlformats.org/drawingml/2006/main">
              <a:ext uri="{FF2B5EF4-FFF2-40B4-BE49-F238E27FC236}">
                <a16:creationId xmlns:a16="http://schemas.microsoft.com/office/drawing/2014/main" id="{ABB30940-58C0-4B26-A34C-3736DA05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18160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70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709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7095"/>
                </a:solidFill>
                <a:latin typeface="Arial"/>
                <a:ea typeface="Arial"/>
                <a:cs typeface="Arial"/>
              </a:rPr>
              <a:t>Получают сырьё для материалов</a:t>
            </a:r>
          </a:p>
        </p:txBody>
      </p:sp>
      <p:sp>
        <p:nvSpPr>
          <p:cNvPr id="16" name="text-20">
            <a:extLst xmlns:a="http://schemas.openxmlformats.org/drawingml/2006/main">
              <a:ext uri="{FF2B5EF4-FFF2-40B4-BE49-F238E27FC236}">
                <a16:creationId xmlns:a16="http://schemas.microsoft.com/office/drawing/2014/main" id="{3FDC171E-81D6-4DCA-A035-CAE248D7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B50"/>
                </a:solidFill>
                <a:latin typeface="Arial"/>
                <a:ea typeface="Arial"/>
                <a:cs typeface="Arial"/>
              </a:rPr>
              <a:t>Нефть формируется из древнего органического вещества за миллионы лет</a:t>
            </a:r>
          </a:p>
        </p:txBody>
      </p:sp>
      <p:sp>
        <p:nvSpPr>
          <p:cNvPr id="17" name="text-21">
            <a:extLst xmlns:a="http://schemas.openxmlformats.org/drawingml/2006/main">
              <a:ext uri="{FF2B5EF4-FFF2-40B4-BE49-F238E27FC236}">
                <a16:creationId xmlns:a16="http://schemas.microsoft.com/office/drawing/2014/main" id="{B2E8070A-342A-4289-B1D2-368BBD06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70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5709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95"/>
                </a:solidFill>
                <a:latin typeface="Arial"/>
                <a:ea typeface="Arial"/>
                <a:cs typeface="Arial"/>
              </a:rPr>
              <a:t>02 / 05</a:t>
            </a:r>
          </a:p>
        </p:txBody>
      </p:sp>
    </p:spTree>
    <p:extLst>
      <p:ext uri="{BB962C8B-B14F-4D97-AF65-F5344CB8AC3E}">
        <p14:creationId xmlns:p14="http://schemas.microsoft.com/office/powerpoint/2010/main" val="3273093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350A841D-E224-4AAC-80D2-BBAF0FF3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Топ-10 стран по добыче нефти</a:t>
            </a:r>
          </a:p>
        </p:txBody>
      </p:sp>
      <p:sp>
        <p:nvSpPr>
          <p:cNvPr id="2" name="text-23">
            <a:extLst xmlns:a="http://schemas.openxmlformats.org/drawingml/2006/main">
              <a:ext uri="{FF2B5EF4-FFF2-40B4-BE49-F238E27FC236}">
                <a16:creationId xmlns:a16="http://schemas.microsoft.com/office/drawing/2014/main" id="{8719049D-4F8A-4F79-8C1E-626B28BF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9D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9DC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9DCFF"/>
                </a:solidFill>
                <a:latin typeface="Arial"/>
                <a:ea typeface="Arial"/>
                <a:cs typeface="Arial"/>
              </a:rPr>
              <a:t>2024 год. Доля в мировой добыче по энергетическому эквиваленту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648371A-D07F-42BC-A72A-6EDD5DE06BA6}"/>
              </a:ext>
            </a:extLst>
          </p:cNvPr>
          <p:cNvGraphicFramePr/>
          <p:nvPr/>
        </p:nvGraphicFramePr>
        <p:xfrm>
          <a:off xmlns:a="http://schemas.openxmlformats.org/drawingml/2006/main" x="523875" y="1895475"/>
          <a:ext xmlns:a="http://schemas.openxmlformats.org/drawingml/2006/main" cx="11010900" cy="4029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27756f549640f3"/>
          </a:graphicData>
        </a:graphic>
      </p:graphicFrame>
      <p:sp>
        <p:nvSpPr>
          <p:cNvPr id="4" name="text-24">
            <a:extLst xmlns:a="http://schemas.openxmlformats.org/drawingml/2006/main">
              <a:ext uri="{FF2B5EF4-FFF2-40B4-BE49-F238E27FC236}">
                <a16:creationId xmlns:a16="http://schemas.microsoft.com/office/drawing/2014/main" id="{3F1D597C-E2D0-4197-B527-33D38A54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19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B6D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B6D1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6D1FF"/>
                </a:solidFill>
                <a:latin typeface="Arial"/>
                <a:ea typeface="Arial"/>
                <a:cs typeface="Arial"/>
              </a:rPr>
              <a:t>Источник: Energy Institute (2025), данные Our World in Data</a:t>
            </a:r>
          </a:p>
        </p:txBody>
      </p:sp>
      <p:sp>
        <p:nvSpPr>
          <p:cNvPr id="5" name="text-25">
            <a:extLst xmlns:a="http://schemas.openxmlformats.org/drawingml/2006/main">
              <a:ext uri="{FF2B5EF4-FFF2-40B4-BE49-F238E27FC236}">
                <a16:creationId xmlns:a16="http://schemas.microsoft.com/office/drawing/2014/main" id="{18C25ACD-B1A0-4AF5-ACE2-B1B13CA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6D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B6D1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D1FF"/>
                </a:solidFill>
                <a:latin typeface="Arial"/>
                <a:ea typeface="Arial"/>
                <a:cs typeface="Arial"/>
              </a:rPr>
              <a:t>03 / 05</a:t>
            </a:r>
          </a:p>
        </p:txBody>
      </p:sp>
    </p:spTree>
    <p:extLst>
      <p:ext uri="{BB962C8B-B14F-4D97-AF65-F5344CB8AC3E}">
        <p14:creationId xmlns:p14="http://schemas.microsoft.com/office/powerpoint/2010/main" val="3699493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26">
            <a:extLst xmlns:a="http://schemas.openxmlformats.org/drawingml/2006/main">
              <a:ext uri="{FF2B5EF4-FFF2-40B4-BE49-F238E27FC236}">
                <a16:creationId xmlns:a16="http://schemas.microsoft.com/office/drawing/2014/main" id="{03E20B32-8822-40AC-A049-1578C84B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22B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825" b="1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22B50"/>
                </a:solidFill>
                <a:latin typeface="Arial"/>
                <a:ea typeface="Arial"/>
                <a:cs typeface="Arial"/>
              </a:rPr>
              <a:t>Где используется кроме топлива</a:t>
            </a:r>
          </a:p>
        </p:txBody>
      </p:sp>
      <p:sp>
        <p:nvSpPr>
          <p:cNvPr id="2" name="text-27">
            <a:extLst xmlns:a="http://schemas.openxmlformats.org/drawingml/2006/main">
              <a:ext uri="{FF2B5EF4-FFF2-40B4-BE49-F238E27FC236}">
                <a16:creationId xmlns:a16="http://schemas.microsoft.com/office/drawing/2014/main" id="{3321E14B-D986-47B4-BF1E-74CFB0B2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365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5CFF"/>
                </a:solidFill>
                <a:latin typeface="Arial"/>
                <a:ea typeface="Arial"/>
                <a:cs typeface="Arial"/>
              </a:rPr>
              <a:t>Пластмассы</a:t>
            </a:r>
          </a:p>
        </p:txBody>
      </p:sp>
      <p:sp>
        <p:nvSpPr>
          <p:cNvPr id="3" name="text-28">
            <a:extLst xmlns:a="http://schemas.openxmlformats.org/drawingml/2006/main">
              <a:ext uri="{FF2B5EF4-FFF2-40B4-BE49-F238E27FC236}">
                <a16:creationId xmlns:a16="http://schemas.microsoft.com/office/drawing/2014/main" id="{DD576411-9D17-4FD5-B036-8A1F6BF6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3638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B50"/>
                </a:solidFill>
                <a:latin typeface="Arial"/>
                <a:ea typeface="Arial"/>
                <a:cs typeface="Arial"/>
              </a:rPr>
              <a:t>Упаковка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B50"/>
                </a:solidFill>
                <a:latin typeface="Arial"/>
                <a:ea typeface="Arial"/>
                <a:cs typeface="Arial"/>
              </a:rPr>
              <a:t>и корпуса приборов</a:t>
            </a:r>
          </a:p>
        </p:txBody>
      </p:sp>
      <p:sp>
        <p:nvSpPr>
          <p:cNvPr id="4" name="text-29">
            <a:extLst xmlns:a="http://schemas.openxmlformats.org/drawingml/2006/main">
              <a:ext uri="{FF2B5EF4-FFF2-40B4-BE49-F238E27FC236}">
                <a16:creationId xmlns:a16="http://schemas.microsoft.com/office/drawing/2014/main" id="{3AA1CDE1-335C-4304-8A68-F46877DF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914525"/>
            <a:ext cx="365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5CFF"/>
                </a:solidFill>
                <a:latin typeface="Arial"/>
                <a:ea typeface="Arial"/>
                <a:cs typeface="Arial"/>
              </a:rPr>
              <a:t>Синтетические ткани</a:t>
            </a:r>
          </a:p>
        </p:txBody>
      </p:sp>
      <p:sp>
        <p:nvSpPr>
          <p:cNvPr id="5" name="text-30">
            <a:extLst xmlns:a="http://schemas.openxmlformats.org/drawingml/2006/main">
              <a:ext uri="{FF2B5EF4-FFF2-40B4-BE49-F238E27FC236}">
                <a16:creationId xmlns:a16="http://schemas.microsoft.com/office/drawing/2014/main" id="{84944C18-1F18-4B67-AD21-E2A2C462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09825"/>
            <a:ext cx="3638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B50"/>
                </a:solidFill>
                <a:latin typeface="Arial"/>
                <a:ea typeface="Arial"/>
                <a:cs typeface="Arial"/>
              </a:rPr>
              <a:t>Полиэстер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B50"/>
                </a:solidFill>
                <a:latin typeface="Arial"/>
                <a:ea typeface="Arial"/>
                <a:cs typeface="Arial"/>
              </a:rPr>
              <a:t>и нейлон</a:t>
            </a:r>
          </a:p>
        </p:txBody>
      </p:sp>
      <p:sp>
        <p:nvSpPr>
          <p:cNvPr id="6" name="text-31">
            <a:extLst xmlns:a="http://schemas.openxmlformats.org/drawingml/2006/main">
              <a:ext uri="{FF2B5EF4-FFF2-40B4-BE49-F238E27FC236}">
                <a16:creationId xmlns:a16="http://schemas.microsoft.com/office/drawing/2014/main" id="{9739BD44-2F4B-4D61-87A1-76F90BA8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65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5CFF"/>
                </a:solidFill>
                <a:latin typeface="Arial"/>
                <a:ea typeface="Arial"/>
                <a:cs typeface="Arial"/>
              </a:rPr>
              <a:t>Синтетический каучук</a:t>
            </a:r>
          </a:p>
        </p:txBody>
      </p:sp>
      <p:sp>
        <p:nvSpPr>
          <p:cNvPr id="7" name="text-32">
            <a:extLst xmlns:a="http://schemas.openxmlformats.org/drawingml/2006/main">
              <a:ext uri="{FF2B5EF4-FFF2-40B4-BE49-F238E27FC236}">
                <a16:creationId xmlns:a16="http://schemas.microsoft.com/office/drawing/2014/main" id="{FC5A6FF6-6763-438C-9F2C-3A6FD6A6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638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B50"/>
                </a:solidFill>
                <a:latin typeface="Arial"/>
                <a:ea typeface="Arial"/>
                <a:cs typeface="Arial"/>
              </a:rPr>
              <a:t>Шины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B50"/>
                </a:solidFill>
                <a:latin typeface="Arial"/>
                <a:ea typeface="Arial"/>
                <a:cs typeface="Arial"/>
              </a:rPr>
              <a:t>и уплотнители</a:t>
            </a:r>
          </a:p>
        </p:txBody>
      </p:sp>
      <p:sp>
        <p:nvSpPr>
          <p:cNvPr id="8" name="text-33">
            <a:extLst xmlns:a="http://schemas.openxmlformats.org/drawingml/2006/main">
              <a:ext uri="{FF2B5EF4-FFF2-40B4-BE49-F238E27FC236}">
                <a16:creationId xmlns:a16="http://schemas.microsoft.com/office/drawing/2014/main" id="{18BB3761-90B9-4085-9395-5E84ABBF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33750"/>
            <a:ext cx="365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5CFF"/>
                </a:solidFill>
                <a:latin typeface="Arial"/>
                <a:ea typeface="Arial"/>
                <a:cs typeface="Arial"/>
              </a:rPr>
              <a:t>Битум</a:t>
            </a:r>
          </a:p>
        </p:txBody>
      </p:sp>
      <p:sp>
        <p:nvSpPr>
          <p:cNvPr id="9" name="text-34">
            <a:extLst xmlns:a="http://schemas.openxmlformats.org/drawingml/2006/main">
              <a:ext uri="{FF2B5EF4-FFF2-40B4-BE49-F238E27FC236}">
                <a16:creationId xmlns:a16="http://schemas.microsoft.com/office/drawing/2014/main" id="{D9384263-B6DD-4534-9C3B-DC9CF242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829050"/>
            <a:ext cx="3638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B50"/>
                </a:solidFill>
                <a:latin typeface="Arial"/>
                <a:ea typeface="Arial"/>
                <a:cs typeface="Arial"/>
              </a:rPr>
              <a:t>Асфальт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B50"/>
                </a:solidFill>
                <a:latin typeface="Arial"/>
                <a:ea typeface="Arial"/>
                <a:cs typeface="Arial"/>
              </a:rPr>
              <a:t>и гидроизоляция</a:t>
            </a:r>
          </a:p>
        </p:txBody>
      </p:sp>
      <p:sp>
        <p:nvSpPr>
          <p:cNvPr id="10" name="text-35">
            <a:extLst xmlns:a="http://schemas.openxmlformats.org/drawingml/2006/main">
              <a:ext uri="{FF2B5EF4-FFF2-40B4-BE49-F238E27FC236}">
                <a16:creationId xmlns:a16="http://schemas.microsoft.com/office/drawing/2014/main" id="{F3CEF7E5-CB03-4DAF-A801-B0F17B91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365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5CFF"/>
                </a:solidFill>
                <a:latin typeface="Arial"/>
                <a:ea typeface="Arial"/>
                <a:cs typeface="Arial"/>
              </a:rPr>
              <a:t>Смазочные материалы</a:t>
            </a:r>
          </a:p>
        </p:txBody>
      </p:sp>
      <p:sp>
        <p:nvSpPr>
          <p:cNvPr id="11" name="text-36">
            <a:extLst xmlns:a="http://schemas.openxmlformats.org/drawingml/2006/main">
              <a:ext uri="{FF2B5EF4-FFF2-40B4-BE49-F238E27FC236}">
                <a16:creationId xmlns:a16="http://schemas.microsoft.com/office/drawing/2014/main" id="{82D90469-AFD0-4786-9374-311B8B03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3638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B50"/>
                </a:solidFill>
                <a:latin typeface="Arial"/>
                <a:ea typeface="Arial"/>
                <a:cs typeface="Arial"/>
              </a:rPr>
              <a:t>Масла для механизмов</a:t>
            </a:r>
          </a:p>
        </p:txBody>
      </p:sp>
      <p:sp>
        <p:nvSpPr>
          <p:cNvPr id="12" name="text-37">
            <a:extLst xmlns:a="http://schemas.openxmlformats.org/drawingml/2006/main">
              <a:ext uri="{FF2B5EF4-FFF2-40B4-BE49-F238E27FC236}">
                <a16:creationId xmlns:a16="http://schemas.microsoft.com/office/drawing/2014/main" id="{288ABDCC-9657-4D3A-BD4A-0A3D1BE9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752975"/>
            <a:ext cx="3657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45C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5CFF"/>
                </a:solidFill>
                <a:latin typeface="Arial"/>
                <a:ea typeface="Arial"/>
                <a:cs typeface="Arial"/>
              </a:rPr>
              <a:t>Химические продукты</a:t>
            </a:r>
          </a:p>
        </p:txBody>
      </p:sp>
      <p:sp>
        <p:nvSpPr>
          <p:cNvPr id="13" name="text-38">
            <a:extLst xmlns:a="http://schemas.openxmlformats.org/drawingml/2006/main">
              <a:ext uri="{FF2B5EF4-FFF2-40B4-BE49-F238E27FC236}">
                <a16:creationId xmlns:a16="http://schemas.microsoft.com/office/drawing/2014/main" id="{83B509D4-2E3D-4034-8021-A92D9A86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48275"/>
            <a:ext cx="3638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B50"/>
                </a:solidFill>
                <a:latin typeface="Arial"/>
                <a:ea typeface="Arial"/>
                <a:cs typeface="Arial"/>
              </a:rPr>
              <a:t>Краски, растворители,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122B5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2B50"/>
                </a:solidFill>
                <a:latin typeface="Arial"/>
                <a:ea typeface="Arial"/>
                <a:cs typeface="Arial"/>
              </a:rPr>
              <a:t>парафин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C1EB6-D87F-4936-8E00-47EA64C263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6ea4ded79406e"/>
          <a:stretch xmlns:a="http://schemas.openxmlformats.org/drawingml/2006/main"/>
        </p:blipFill>
        <p:spPr>
          <a:xfrm xmlns:a="http://schemas.openxmlformats.org/drawingml/2006/main">
            <a:off x="8382000" y="208597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5" name="text-39">
            <a:extLst xmlns:a="http://schemas.openxmlformats.org/drawingml/2006/main">
              <a:ext uri="{FF2B5EF4-FFF2-40B4-BE49-F238E27FC236}">
                <a16:creationId xmlns:a16="http://schemas.microsoft.com/office/drawing/2014/main" id="{D82A00F8-5678-42B1-A71A-7011D55F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70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709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7095"/>
                </a:solidFill>
                <a:latin typeface="Arial"/>
                <a:ea typeface="Arial"/>
                <a:cs typeface="Arial"/>
              </a:rPr>
              <a:t>Часть этих материалов также получают из природного газа и другого сырья</a:t>
            </a:r>
          </a:p>
        </p:txBody>
      </p:sp>
      <p:sp>
        <p:nvSpPr>
          <p:cNvPr id="16" name="text-40">
            <a:extLst xmlns:a="http://schemas.openxmlformats.org/drawingml/2006/main">
              <a:ext uri="{FF2B5EF4-FFF2-40B4-BE49-F238E27FC236}">
                <a16:creationId xmlns:a16="http://schemas.microsoft.com/office/drawing/2014/main" id="{5211AD1F-79C4-4D38-A3BE-0A15D3E8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5709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55709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95"/>
                </a:solidFill>
                <a:latin typeface="Arial"/>
                <a:ea typeface="Arial"/>
                <a:cs typeface="Arial"/>
              </a:rPr>
              <a:t>04 / 05</a:t>
            </a:r>
          </a:p>
        </p:txBody>
      </p:sp>
    </p:spTree>
    <p:extLst>
      <p:ext uri="{BB962C8B-B14F-4D97-AF65-F5344CB8AC3E}">
        <p14:creationId xmlns:p14="http://schemas.microsoft.com/office/powerpoint/2010/main" val="7789033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5C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41">
            <a:extLst xmlns:a="http://schemas.openxmlformats.org/drawingml/2006/main">
              <a:ext uri="{FF2B5EF4-FFF2-40B4-BE49-F238E27FC236}">
                <a16:creationId xmlns:a16="http://schemas.microsoft.com/office/drawing/2014/main" id="{F9A1C33D-5123-4B59-AE3E-A79747DF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Нефть и окружающая среда</a:t>
            </a:r>
          </a:p>
        </p:txBody>
      </p:sp>
      <p:sp>
        <p:nvSpPr>
          <p:cNvPr id="2" name="text-42">
            <a:extLst xmlns:a="http://schemas.openxmlformats.org/drawingml/2006/main">
              <a:ext uri="{FF2B5EF4-FFF2-40B4-BE49-F238E27FC236}">
                <a16:creationId xmlns:a16="http://schemas.microsoft.com/office/drawing/2014/main" id="{BF4DE598-23C1-48E3-ABC5-E6CB37E2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Разливы</a:t>
            </a:r>
          </a:p>
        </p:txBody>
      </p:sp>
      <p:sp>
        <p:nvSpPr>
          <p:cNvPr id="3" name="text-43">
            <a:extLst xmlns:a="http://schemas.openxmlformats.org/drawingml/2006/main">
              <a:ext uri="{FF2B5EF4-FFF2-40B4-BE49-F238E27FC236}">
                <a16:creationId xmlns:a16="http://schemas.microsoft.com/office/drawing/2014/main" id="{9267059B-A2C0-4F90-954E-9E0E87E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3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C3E5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3E5FF"/>
                </a:solidFill>
                <a:latin typeface="Arial"/>
                <a:ea typeface="Arial"/>
                <a:cs typeface="Arial"/>
              </a:rPr>
              <a:t>Загрязняют воду и почву</a:t>
            </a:r>
          </a:p>
        </p:txBody>
      </p:sp>
      <p:sp>
        <p:nvSpPr>
          <p:cNvPr id="4" name="text-44">
            <a:extLst xmlns:a="http://schemas.openxmlformats.org/drawingml/2006/main">
              <a:ext uri="{FF2B5EF4-FFF2-40B4-BE49-F238E27FC236}">
                <a16:creationId xmlns:a16="http://schemas.microsoft.com/office/drawing/2014/main" id="{AA59E9DB-7B44-4A88-8594-FA25DE62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Сжигание топлива</a:t>
            </a:r>
          </a:p>
        </p:txBody>
      </p:sp>
      <p:sp>
        <p:nvSpPr>
          <p:cNvPr id="5" name="text-45">
            <a:extLst xmlns:a="http://schemas.openxmlformats.org/drawingml/2006/main">
              <a:ext uri="{FF2B5EF4-FFF2-40B4-BE49-F238E27FC236}">
                <a16:creationId xmlns:a16="http://schemas.microsoft.com/office/drawing/2014/main" id="{B2A8E4BC-BC61-4436-9C9E-1247E7FA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3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C3E5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3E5FF"/>
                </a:solidFill>
                <a:latin typeface="Arial"/>
                <a:ea typeface="Arial"/>
                <a:cs typeface="Arial"/>
              </a:rPr>
              <a:t>Сопровождается выбросами CO₂</a:t>
            </a:r>
          </a:p>
        </p:txBody>
      </p:sp>
      <p:sp>
        <p:nvSpPr>
          <p:cNvPr id="6" name="text-46">
            <a:extLst xmlns:a="http://schemas.openxmlformats.org/drawingml/2006/main">
              <a:ext uri="{FF2B5EF4-FFF2-40B4-BE49-F238E27FC236}">
                <a16:creationId xmlns:a16="http://schemas.microsoft.com/office/drawing/2014/main" id="{C249A526-BBD2-4D7B-8D0E-BBC470E9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Пластиковые отходы</a:t>
            </a:r>
          </a:p>
        </p:txBody>
      </p:sp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85E0DAD1-E119-4405-AFE7-8B5EC3FB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3E5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C3E5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3E5FF"/>
                </a:solidFill>
                <a:latin typeface="Arial"/>
                <a:ea typeface="Arial"/>
                <a:cs typeface="Arial"/>
              </a:rPr>
              <a:t>Накапливаются в природе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C3DC4-A8EE-44C1-81BF-22499E4045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64d32af324c61"/>
          <a:stretch xmlns:a="http://schemas.openxmlformats.org/drawingml/2006/main"/>
        </p:blipFill>
        <p:spPr>
          <a:xfrm xmlns:a="http://schemas.openxmlformats.org/drawingml/2006/main">
            <a:off x="7289293" y="2076450"/>
            <a:ext cx="429044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text-48">
            <a:extLst xmlns:a="http://schemas.openxmlformats.org/drawingml/2006/main">
              <a:ext uri="{FF2B5EF4-FFF2-40B4-BE49-F238E27FC236}">
                <a16:creationId xmlns:a16="http://schemas.microsoft.com/office/drawing/2014/main" id="{CE62F7D0-D684-4A54-AF04-D8A6F118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257800"/>
            <a:ext cx="43529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Снижение рисков: контроль утечек,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безопасная эксплуатация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переработка материалов</a:t>
            </a:r>
          </a:p>
        </p:txBody>
      </p:sp>
      <p:sp>
        <p:nvSpPr>
          <p:cNvPr id="10" name="text-49">
            <a:extLst xmlns:a="http://schemas.openxmlformats.org/drawingml/2006/main">
              <a:ext uri="{FF2B5EF4-FFF2-40B4-BE49-F238E27FC236}">
                <a16:creationId xmlns:a16="http://schemas.microsoft.com/office/drawing/2014/main" id="{E43A56FD-46EC-4F0E-B399-03FFFCD0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29375"/>
            <a:ext cx="1009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6D1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200" b="0">
                <a:solidFill>
                  <a:srgbClr val="B6D1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6D1FF"/>
                </a:solidFill>
                <a:latin typeface="Arial"/>
                <a:ea typeface="Arial"/>
                <a:cs typeface="Arial"/>
              </a:rPr>
              <a:t>05 / 05</a:t>
            </a:r>
          </a:p>
        </p:txBody>
      </p:sp>
    </p:spTree>
    <p:extLst>
      <p:ext uri="{BB962C8B-B14F-4D97-AF65-F5344CB8AC3E}">
        <p14:creationId xmlns:p14="http://schemas.microsoft.com/office/powerpoint/2010/main" val="437426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2026-10-24T20:24:44.1530000Z</dcterms:created>
  <dcterms:modified xsi:type="dcterms:W3CDTF">2026-10-24T20:24:44.1530000Z</dcterms:modified>
</coreProperties>
</file>