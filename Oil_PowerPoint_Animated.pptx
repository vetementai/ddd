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18b7132aa74af7" /><Relationship Type="http://schemas.openxmlformats.org/officeDocument/2006/relationships/extended-properties" Target="/docProps/app.xml" Id="R999db5e411504706" /><Relationship Type="http://schemas.openxmlformats.org/officeDocument/2006/relationships/officeDocument" Target="/ppt/presentation.xml" Id="Re40c096b1f9141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9f0a8f0c074a53"/>
  </p:sldMasterIdLst>
  <p:notesMasterIdLst>
    <p:notesMasterId xmlns:r="http://schemas.openxmlformats.org/officeDocument/2006/relationships" r:id="R52e6c46f51a04057"/>
  </p:notesMasterIdLst>
  <p:sldIdLst>
    <p:sldId xmlns:r="http://schemas.openxmlformats.org/officeDocument/2006/relationships" id="256" r:id="R0610db71636b4eb7"/>
    <p:sldId xmlns:r="http://schemas.openxmlformats.org/officeDocument/2006/relationships" id="257" r:id="R692743fec9644aa2"/>
    <p:sldId xmlns:r="http://schemas.openxmlformats.org/officeDocument/2006/relationships" id="258" r:id="R9ba469b3343d4e8c"/>
    <p:sldId xmlns:r="http://schemas.openxmlformats.org/officeDocument/2006/relationships" id="259" r:id="R3e5a5c504d4b47ef"/>
    <p:sldId xmlns:r="http://schemas.openxmlformats.org/officeDocument/2006/relationships" id="260" r:id="Rff7fe7cac72f46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6bf6713aa74462" /><Relationship Type="http://schemas.openxmlformats.org/officeDocument/2006/relationships/slideMaster" Target="/ppt/slideMasters/slideMaster1.xml" Id="R219f0a8f0c074a53" /><Relationship Type="http://schemas.openxmlformats.org/officeDocument/2006/relationships/notesMaster" Target="/ppt/notesMasters/notesMaster1.xml" Id="R52e6c46f51a04057" /><Relationship Type="http://schemas.openxmlformats.org/officeDocument/2006/relationships/presProps" Target="/ppt/presProps.xml" Id="Rab076c2037aa4488" /><Relationship Type="http://schemas.openxmlformats.org/officeDocument/2006/relationships/tableStyles" Target="/ppt/tableStyles.xml" Id="R73c882ae6e414461" /><Relationship Type="http://schemas.openxmlformats.org/officeDocument/2006/relationships/slide" Target="/ppt/slides/slide1.xml" Id="R0610db71636b4eb7" /><Relationship Type="http://schemas.openxmlformats.org/officeDocument/2006/relationships/slide" Target="/ppt/slides/slide2.xml" Id="R692743fec9644aa2" /><Relationship Type="http://schemas.openxmlformats.org/officeDocument/2006/relationships/slide" Target="/ppt/slides/slide3.xml" Id="R9ba469b3343d4e8c" /><Relationship Type="http://schemas.openxmlformats.org/officeDocument/2006/relationships/slide" Target="/ppt/slides/slide4.xml" Id="R3e5a5c504d4b47ef" /><Relationship Type="http://schemas.openxmlformats.org/officeDocument/2006/relationships/slide" Target="/ppt/slides/slide5.xml" Id="Rff7fe7cac72f46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1082ebdb8d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19438c14584ca8" /><Relationship Type="http://schemas.openxmlformats.org/officeDocument/2006/relationships/notesMaster" Target="/ppt/notesMasters/notesMaster1.xml" Id="R8732103cbb3c4a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a8528b1c7a4246" /><Relationship Type="http://schemas.openxmlformats.org/officeDocument/2006/relationships/notesMaster" Target="/ppt/notesMasters/notesMaster1.xml" Id="Rcdeb4e6a9d094b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77d0e74f454234" /><Relationship Type="http://schemas.openxmlformats.org/officeDocument/2006/relationships/notesMaster" Target="/ppt/notesMasters/notesMaster1.xml" Id="Rd9b50171df2c43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5e4b564fbc431c" /><Relationship Type="http://schemas.openxmlformats.org/officeDocument/2006/relationships/notesMaster" Target="/ppt/notesMasters/notesMaster1.xml" Id="Re4eddf78221046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fa07e9c9404812" /><Relationship Type="http://schemas.openxmlformats.org/officeDocument/2006/relationships/notesMaster" Target="/ppt/notesMasters/notesMaster1.xml" Id="R818b01d1ad9d46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Нефть представляет собой природную жидкую смесь углеводородов с примесями. Она формируется из древнего органического вещества в осадочных бассейнах под действием температуры и давления в течение миллионов лет. Нефть служит сырьём для производства топлива и различных материалов.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Фотография перерабатывающего предприятия из интернета: https://github.com/Versity1/oil-and-gas/blob/b36f775c3eab75b2f2f6e6fd371ddba62eed575a/core_app/static/images/refinery_plant.jpg. Конкретное предприятие и автор исходной фотографии в использованном репозитории не указаны.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Сначала нефть добывают через скважины на суше и на море. На промысле отделяют газ, воду и примеси. На нефтеперерабатывающем заводе нефть разделяют на фракции и дополнительно перерабатывают. Часть продуктов становится сырьём нефтехимии. Например, углеводородное сырьё перерабатывают в мономеры, из которых получают полимеры. Это упрощённая схема, а не полный технологический регламент.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Фотография морской платформы из интернета: https://github.com/Versity1/oil-and-gas/blob/b36f775c3eab75b2f2f6e6fd371ddba62eed575a/core_app/static/images/offshore_platform.jpg. Место съёмки и автор не установлены по использованному источнику.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данных: Energy Institute, Statistical Review of World Energy (2025), через Our World in Data. Использован полный 2024 год, а не оперативные месячные оценки.</a:t>
            </a:r>
          </a:p>
          <a:p xmlns:a="http://schemas.openxmlformats.org/drawingml/2006/main">
            <a:r>
              <a:t>https://raw.githubusercontent.com/owid/energy-data/master/owid-energy-data.csv</a:t>
            </a:r>
          </a:p>
          <a:p xmlns:a="http://schemas.openxmlformats.org/drawingml/2006/main">
            <a:r>
              <a:t>Кодировка показателя: oil_production, ТВт·ч. Весь мир: 52831.051 ТВт·ч. Доли рассчитаны как добыча страны, делённая на мировую добычу, и умноженная на 100. В рейтинг включены страны с трёхбуквенными ISO-кодами. Это сравнение добычи по энергетическому содержанию, а не по объёму в баррелях. Рейтинг по другой единице измерения может отличаться. Показатель Energy Institute включает сырую нефть, конденсат и природные газовые жидкости согласно методологии источника. Значения округлены для показа.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[{"name":"США","share":18.89,"twh":9977.384},{"name":"Россия","share":11.59,"twh":6121.835},{"name":"Саудовская Аравия","share":11.23,"twh":5933.262},{"name":"Канада","share":6.38,"twh":3372.073},{"name":"Иран","share":5.16,"twh":2726.667},{"name":"Ирак","share":4.75,"twh":2507.699},{"name":"Китай","share":4.69,"twh":2475.922},{"name":"Бразилия","share":4.01,"twh":2117.55},{"name":"ОАЭ","share":3.96,"twh":2090.457},{"name":"Кувейт","share":2.88,"twh":1520.714}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Основные нетопливные применения нефти и нефтехимического сырья: пластмассы, синтетические волокна (полиэстер и нейлон), синтетические каучуки, битум, смазочные материалы, краски, растворители и парафин. У некоторых перечисленных материалов есть и альтернативное сырьё, включая природный газ и возобновляемые источники. Наличие предмета в списке не означает, что он обязательно целиком изготовлен из нефти. Шины содержат смесь компонентов, в том числе натуральный и синтетический каучук.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Концептуальная иллюстрация нефтехимических продуктов создана с помощью OpenAI ImageGen, не является фотографией.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Разливы нефти загрязняют почву и воду и могут вредить экосистемам. При сжигании нефтяного топлива выделяется углекислый газ. Добыча и транспортировка могут сопровождаться утечками. Многие обычные пластмассы медленно разлагаются в природных условиях и создают проблему отходов. Снижение рисков требует предотвращения утечек, контроля оборудования, сбора и переработки отходов и уменьшения ненужного потребления материалов. Переработка возможна не для всех материалов и изделий и зависит от технологии и местной инфраструктуры.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Справочный материал по теме: U.S. EIA, Oil and petroleum products explained, https://www.eia.gov/energyexplained/oil-and-petroleum-products/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Фотография оборудования и работника из интернета: https://github.com/Versity1/oil-and-gas/blob/b36f775c3eab75b2f2f6e6fd371ddba62eed575a/core_app/static/images/pipeline_worker.jpg. Автор исходной фотографии в использованном репозитории не указан.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114acc11f48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b92167a8045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dce54636f846d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01ef258144e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5ad24fb0445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47345df73f42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BA0F3B-97A4-4583-885F-F963098487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74922E-4EDD-43A4-AA1C-603B0E6C9A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15A142-5E66-424C-9158-049C1B346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9BC2B5-D73A-404F-97C5-F8C05447E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14E95F-1889-409A-9332-DE7F06F327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DA6CB5-6D04-49BC-B815-FBD5250FEA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8B490C-28CC-429F-B7CA-C4557370BD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3A6F0E-DB9C-429D-B672-C59CCC11B2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8D4D98-367B-4821-848A-FF2D731B2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030647-92E0-4A09-A23A-CA8ED3F172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3d033569104847" /><Relationship Type="http://schemas.openxmlformats.org/officeDocument/2006/relationships/slideLayout" Target="/ppt/slideLayouts/slideLayout1.xml" Id="Rbab71014b8a046d2" /><Relationship Type="http://schemas.openxmlformats.org/officeDocument/2006/relationships/slideLayout" Target="/ppt/slideLayouts/slideLayout2.xml" Id="R98599f5c8c8d4979" /><Relationship Type="http://schemas.openxmlformats.org/officeDocument/2006/relationships/slideLayout" Target="/ppt/slideLayouts/slideLayout3.xml" Id="R57c89fbe5f804d3f" /><Relationship Type="http://schemas.openxmlformats.org/officeDocument/2006/relationships/slideLayout" Target="/ppt/slideLayouts/slideLayout4.xml" Id="Rd35c8a4d15f340bc" /><Relationship Type="http://schemas.openxmlformats.org/officeDocument/2006/relationships/slideLayout" Target="/ppt/slideLayouts/slideLayout5.xml" Id="R02f95bfeca5f46b7" /><Relationship Type="http://schemas.openxmlformats.org/officeDocument/2006/relationships/slideLayout" Target="/ppt/slideLayouts/slideLayout6.xml" Id="Rf817ba142a1244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b71014b8a046d2"/>
    <p:sldLayoutId xmlns:r="http://schemas.openxmlformats.org/officeDocument/2006/relationships" id="2147483650" r:id="R98599f5c8c8d4979"/>
    <p:sldLayoutId xmlns:r="http://schemas.openxmlformats.org/officeDocument/2006/relationships" id="2147483651" r:id="R57c89fbe5f804d3f"/>
    <p:sldLayoutId xmlns:r="http://schemas.openxmlformats.org/officeDocument/2006/relationships" id="2147483652" r:id="Rd35c8a4d15f340bc"/>
    <p:sldLayoutId xmlns:r="http://schemas.openxmlformats.org/officeDocument/2006/relationships" id="2147483653" r:id="R02f95bfeca5f46b7"/>
    <p:sldLayoutId xmlns:r="http://schemas.openxmlformats.org/officeDocument/2006/relationships" id="2147483654" r:id="Rf817ba142a1244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2bc85c8a74723" /><Relationship Type="http://schemas.openxmlformats.org/officeDocument/2006/relationships/image" Target="/ppt/media/image.jpeg" Id="Rd6b1a3e0354949af" /><Relationship Type="http://schemas.openxmlformats.org/officeDocument/2006/relationships/notesSlide" Target="/ppt/notesSlides/notesSlide1.xml" Id="R7297c60d51a64b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16db43e1a42be" /><Relationship Type="http://schemas.openxmlformats.org/officeDocument/2006/relationships/image" Target="/ppt/media/image2.jpeg" Id="Rd2da9185f6c04d19" /><Relationship Type="http://schemas.openxmlformats.org/officeDocument/2006/relationships/notesSlide" Target="/ppt/notesSlides/notesSlide2.xml" Id="Red3c363db7a249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2802b5c3e4d62" /><Relationship Type="http://schemas.openxmlformats.org/officeDocument/2006/relationships/chart" Target="/ppt/slides/charts/chart1.xml" Id="R7895b57924c746ba" /><Relationship Type="http://schemas.openxmlformats.org/officeDocument/2006/relationships/notesSlide" Target="/ppt/notesSlides/notesSlide3.xml" Id="Re4c4de96e60344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e2f66df72342d3" /><Relationship Type="http://schemas.openxmlformats.org/officeDocument/2006/relationships/image" Target="/ppt/media/image.png" Id="R1bb031c8d27e4b3a" /><Relationship Type="http://schemas.openxmlformats.org/officeDocument/2006/relationships/notesSlide" Target="/ppt/notesSlides/notesSlide4.xml" Id="R23fe1448ee4d40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a3de21747147d9" /><Relationship Type="http://schemas.openxmlformats.org/officeDocument/2006/relationships/image" Target="/ppt/media/image3.jpeg" Id="R35eef1bbe7314681" /><Relationship Type="http://schemas.openxmlformats.org/officeDocument/2006/relationships/notesSlide" Target="/ppt/notesSlides/notesSlide5.xml" Id="Ra386a2f9b7d843c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Доля в мировой добыче, %</c:v>
          </c:tx>
          <c:spPr>
            <a:solidFill xmlns:a="http://schemas.openxmlformats.org/drawingml/2006/main">
              <a:srgbClr val="1558F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1558FF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DBFF68"/>
              </a:solidFill>
            </c:spPr>
          </c:dPt>
          <c:cat>
            <c:strRef>
              <c:f>'Chart Data'!$A$2:$A$11</c:f>
              <c:strCache>
                <c:ptCount val="10"/>
                <c:pt idx="0">
                  <c:v>10. Кувейт</c:v>
                </c:pt>
                <c:pt idx="1">
                  <c:v>9. ОАЭ</c:v>
                </c:pt>
                <c:pt idx="2">
                  <c:v>8. Бразилия</c:v>
                </c:pt>
                <c:pt idx="3">
                  <c:v>7. Китай</c:v>
                </c:pt>
                <c:pt idx="4">
                  <c:v>6. Ирак</c:v>
                </c:pt>
                <c:pt idx="5">
                  <c:v>5. Иран</c:v>
                </c:pt>
                <c:pt idx="6">
                  <c:v>4. Канада</c:v>
                </c:pt>
                <c:pt idx="7">
                  <c:v>3. Саудовская Аравия</c:v>
                </c:pt>
                <c:pt idx="8">
                  <c:v>2. Россия</c:v>
                </c:pt>
                <c:pt idx="9">
                  <c:v>1. США</c:v>
                </c:pt>
              </c:strCache>
            </c:strRef>
          </c:cat>
          <c:val>
            <c:numRef>
              <c:f>'Chart Data'!$B$2:$B$11</c:f>
              <c:numCache>
                <c:formatCode>0.0"%"</c:formatCode>
                <c:ptCount val="10"/>
                <c:pt idx="0">
                  <c:v>2.88</c:v>
                </c:pt>
                <c:pt idx="1">
                  <c:v>3.96</c:v>
                </c:pt>
                <c:pt idx="2">
                  <c:v>4.01</c:v>
                </c:pt>
                <c:pt idx="3">
                  <c:v>4.69</c:v>
                </c:pt>
                <c:pt idx="4">
                  <c:v>4.75</c:v>
                </c:pt>
                <c:pt idx="5">
                  <c:v>5.16</c:v>
                </c:pt>
                <c:pt idx="6">
                  <c:v>6.38</c:v>
                </c:pt>
                <c:pt idx="7">
                  <c:v>11.23</c:v>
                </c:pt>
                <c:pt idx="8">
                  <c:v>11.59</c:v>
                </c:pt>
                <c:pt idx="9">
                  <c:v>18.89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2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61026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061026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06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C6251-7D6B-4D1E-B356-1FF9E5C50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1a3e0354949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urface-1">
            <a:extLst xmlns:a="http://schemas.openxmlformats.org/drawingml/2006/main">
              <a:ext uri="{FF2B5EF4-FFF2-40B4-BE49-F238E27FC236}">
                <a16:creationId xmlns:a16="http://schemas.microsoft.com/office/drawing/2014/main" id="{14EA4704-97C0-4057-B7B9-CF2DFA0E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26">
                  <a:alpha val="99000"/>
                </a:srgbClr>
              </a:gs>
              <a:gs pos="49000">
                <a:srgbClr val="061026">
                  <a:alpha val="91000"/>
                </a:srgbClr>
              </a:gs>
              <a:gs pos="100000">
                <a:srgbClr val="061026">
                  <a:alpha val="16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50DF89-9E45-4FB8-A2E1-850B5CAE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BFF68"/>
                </a:solidFill>
                <a:latin typeface="Arial"/>
                <a:ea typeface="Arial"/>
                <a:cs typeface="Arial"/>
              </a:rPr>
              <a:t>СЫРЬЁ ДЛЯ МАТЕРИАЛОВ И ЭНЕРГИИ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EE10A60-51E8-4DA9-BC9A-8DD84C26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66825"/>
            <a:ext cx="1000125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НЕФТЬ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0A67F83-4F8B-43EC-A2E1-BD3BBD66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857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месторождения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 повседневных вещей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3A64A67-1C32-4799-A17B-2A46CA67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6F2"/>
                </a:solidFill>
                <a:latin typeface="Arial"/>
                <a:ea typeface="Arial"/>
                <a:cs typeface="Arial"/>
              </a:rPr>
              <a:t>Природная смесь углеводородов.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6F2"/>
                </a:solidFill>
                <a:latin typeface="Arial"/>
                <a:ea typeface="Arial"/>
                <a:cs typeface="Arial"/>
              </a:rPr>
              <a:t>Сырьё для топлива и материалов.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423AA31-5DC6-4B92-B3DA-C2612E7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FDDFF"/>
                </a:solidFill>
                <a:latin typeface="Arial"/>
                <a:ea typeface="Arial"/>
                <a:cs typeface="Arial"/>
              </a:rPr>
              <a:t>01 / 05</a:t>
            </a:r>
          </a:p>
        </p:txBody>
      </p:sp>
    </p:spTree>
    <p:extLst>
      <p:ext uri="{BB962C8B-B14F-4D97-AF65-F5344CB8AC3E}">
        <p14:creationId xmlns:p14="http://schemas.microsoft.com/office/powerpoint/2010/main" val="1770055370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 grpId="0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 additive="base">
                                        <p:cTn id="8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9" dur="8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800" fill="hold" decel="7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3" dur="95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950" fill="hold" decel="7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88888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 grpId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800" fill="hold" decel="7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 grpId="0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 additive="base"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1" dur="8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800" fill="hold" decel="7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" presetID="6" presetClass="emph" presetSubtype="0" fill="hold" nodeType="withEffect">
                <p:stCondLst>
                  <p:cond delay="0"/>
                </p:stCondLst>
                <p:childTnLst>
                  <p:animScale zoomContents="1">
                    <p:cBhvr additive="base">
                      <p:cTn id="6" dur="16000" fill="hold" decel="50000"/>
                      <p:tgtEl>
                        <p:spTgt spid="8"/>
                      </p:tgtEl>
                      <p:attrNameLst>
                        <p:attrName>ppt_w</p:attrName>
                        <p:attrName>ppt_h</p:attrName>
                      </p:attrNameLst>
                    </p:cBhvr>
                    <p:from x="105500" y="105500"/>
                    <p:to x="101500" y="101500"/>
                  </p:animScale>
                </p:childTnLst>
              </p:cTn>
            </p:par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</p:bldLst>
  </p:timing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7">
            <a:extLst xmlns:a="http://schemas.openxmlformats.org/drawingml/2006/main">
              <a:ext uri="{FF2B5EF4-FFF2-40B4-BE49-F238E27FC236}">
                <a16:creationId xmlns:a16="http://schemas.microsoft.com/office/drawing/2014/main" id="{37C4E212-C2E8-48A6-80C6-FC95E3DA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676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pPr>
            <a:r>
              <a:rPr sz="4950" b="1">
                <a:solidFill>
                  <a:srgbClr val="061026"/>
                </a:solidFill>
                <a:latin typeface="Cambria"/>
                <a:ea typeface="Cambria"/>
                <a:cs typeface="Cambria"/>
              </a:rPr>
              <a:t>Из недр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pPr>
            <a:r>
              <a:rPr sz="4950" b="1">
                <a:solidFill>
                  <a:srgbClr val="061026"/>
                </a:solidFill>
                <a:latin typeface="Cambria"/>
                <a:ea typeface="Cambria"/>
                <a:cs typeface="Cambria"/>
              </a:rPr>
              <a:t>в промышленность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0998735F-80B2-47C0-8686-BC987F9F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6381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Нефть формируется из органического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вещества за миллионы лет.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3BB38-505A-4B39-9AAC-3CB9B6BAE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a9185f6c04d19"/>
          <a:srcRect xmlns:a="http://schemas.openxmlformats.org/drawingml/2006/main" l="8" t="0" r="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2350" y="609600"/>
            <a:ext cx="4210050" cy="2809875"/>
          </a:xfrm>
          <a:prstGeom xmlns:a="http://schemas.openxmlformats.org/drawingml/2006/main"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103" name="Photo frame 103"/>
          <p:cNvSpPr/>
          <p:nvPr/>
        </p:nvSpPr>
        <p:spPr>
          <a:xfrm>
            <a:off x="11582400" y="609600"/>
            <a:ext cx="190500" cy="2809875"/>
          </a:xfrm>
          <a:prstGeom prst="rect">
            <a:avLst/>
          </a:prstGeom>
          <a:solidFill>
            <a:srgbClr val="F5F8FF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02" name="Photo frame 102"/>
          <p:cNvSpPr/>
          <p:nvPr/>
        </p:nvSpPr>
        <p:spPr>
          <a:xfrm>
            <a:off x="7181850" y="609600"/>
            <a:ext cx="190500" cy="2809875"/>
          </a:xfrm>
          <a:prstGeom prst="rect">
            <a:avLst/>
          </a:prstGeom>
          <a:solidFill>
            <a:srgbClr val="F5F8FF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01" name="Photo frame 101"/>
          <p:cNvSpPr/>
          <p:nvPr/>
        </p:nvSpPr>
        <p:spPr>
          <a:xfrm>
            <a:off x="7181850" y="3419475"/>
            <a:ext cx="4591050" cy="133350"/>
          </a:xfrm>
          <a:prstGeom prst="rect">
            <a:avLst/>
          </a:prstGeom>
          <a:solidFill>
            <a:srgbClr val="F5F8FF"/>
          </a:solidFill>
          <a:ln>
            <a:noFill/>
          </a:ln>
        </p:spPr>
      </p:sp>
      <p:sp xmlns:p="http://schemas.openxmlformats.org/presentationml/2006/main" xmlns:a="http://schemas.openxmlformats.org/drawingml/2006/main">
        <p:nvSpPr>
          <p:cNvPr id="100" name="Photo frame 100"/>
          <p:cNvSpPr/>
          <p:nvPr/>
        </p:nvSpPr>
        <p:spPr>
          <a:xfrm>
            <a:off x="7181850" y="476250"/>
            <a:ext cx="4591050" cy="133350"/>
          </a:xfrm>
          <a:prstGeom prst="rect">
            <a:avLst/>
          </a:prstGeom>
          <a:solidFill>
            <a:srgbClr val="F5F8FF"/>
          </a:solidFill>
          <a:ln>
            <a:noFill/>
          </a:ln>
        </p:spPr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216F29E0-525F-4814-A31A-208B7B2D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pPr>
            <a:r>
              <a:rPr sz="4875" b="1">
                <a:solidFill>
                  <a:srgbClr val="1558FF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A05639FF-00CA-4B0E-AF2A-BC353E16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1026"/>
                </a:solidFill>
                <a:latin typeface="Arial"/>
                <a:ea typeface="Arial"/>
                <a:cs typeface="Arial"/>
              </a:rPr>
              <a:t>Добыча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B1A35254-95D4-4DCA-AFF7-CC184BB4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Скважины на суше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и на море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A375630C-6EC5-4FC8-9021-D77560A9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8957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pPr>
            <a:r>
              <a:rPr sz="4875" b="1">
                <a:solidFill>
                  <a:srgbClr val="1558FF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994C8BD7-F4F5-4702-BE1A-5733E08C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79107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1026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28816E29-C41D-49E0-8715-516EABFC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3054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Отделяют воду,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газ и примеси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AA138863-13CA-4CD7-99F3-98EC18C6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957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pPr>
            <a:r>
              <a:rPr sz="4875" b="1">
                <a:solidFill>
                  <a:srgbClr val="1558FF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CC97F6D5-7DB9-46B5-84B5-C1776696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9107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1026"/>
                </a:solidFill>
                <a:latin typeface="Arial"/>
                <a:ea typeface="Arial"/>
                <a:cs typeface="Arial"/>
              </a:rPr>
              <a:t>Переработка</a:t>
            </a:r>
          </a:p>
        </p:txBody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2C2CBEEA-C73C-4ECB-B1A5-22F6D644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054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Разделяют нефть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на фракции</a:t>
            </a:r>
          </a:p>
        </p:txBody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163E45C2-B101-42F0-B4F7-E177FD18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89572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4875" b="1">
                <a:solidFill>
                  <a:srgbClr val="1558FF"/>
                </a:solidFill>
                <a:latin typeface="Cambria"/>
                <a:ea typeface="Cambria"/>
                <a:cs typeface="Cambria"/>
              </a:defRPr>
            </a:pPr>
            <a:r>
              <a:rPr sz="4875" b="1">
                <a:solidFill>
                  <a:srgbClr val="1558FF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554E2E2D-AA2E-4F52-A269-871C59A4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791075"/>
            <a:ext cx="257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61026"/>
                </a:solidFill>
                <a:latin typeface="Arial"/>
                <a:ea typeface="Arial"/>
                <a:cs typeface="Arial"/>
              </a:rPr>
              <a:t>Нефтехимия</a:t>
            </a:r>
          </a:p>
        </p:txBody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B784FEF0-CAA0-431C-BB34-A97F0A26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305425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Получают сырьё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для материалов</a:t>
            </a:r>
          </a:p>
        </p:txBody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B0BED060-DC6F-4949-8161-F80C9EAB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02 / 05</a:t>
            </a:r>
          </a:p>
        </p:txBody>
      </p:sp>
    </p:spTree>
    <p:extLst>
      <p:ext uri="{BB962C8B-B14F-4D97-AF65-F5344CB8AC3E}">
        <p14:creationId xmlns:p14="http://schemas.microsoft.com/office/powerpoint/2010/main" val="29841163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95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950" fill="hold" decel="7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88888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 grpId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 additive="base">
                                        <p:cTn id="1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1" dur="8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800" fill="hold" decel="7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 grpId="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 additive="base"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5" dur="9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 grpId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0" dur="8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 decel="7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 grpId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 additive="base"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4" dur="8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 decel="7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 grpId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8" dur="8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800" fill="hold" decel="7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 grpId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2" dur="8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800" fill="hold" decel="7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 grpId="0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 additive="base"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6" dur="8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800" fill="hold" decel="7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 grpId="0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 additive="base"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0" dur="8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fill="hold" decel="7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 grpId="0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 additive="base"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4" dur="8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800" fill="hold" decel="7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 grpId="0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 additive="base"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8" dur="8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800" fill="hold" decel="7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 grpId="0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 additive="base"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2" dur="8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800" fill="hold" decel="7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 grpId="0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 additive="base"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6" dur="8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800" fill="hold" decel="7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 grpId="0">
                                  <p:stCondLst>
                                    <p:cond delay="1030"/>
                                  </p:stCondLst>
                                  <p:childTnLst>
                                    <p:set>
                                      <p:cBhvr additive="base"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60" dur="8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800" fill="hold" decel="7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 grpId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 additive="base"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64" dur="8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800" fill="hold" decel="7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16" presetID="6" presetClass="emph" presetSubtype="0" fill="hold" nodeType="withEffect">
                <p:stCondLst>
                  <p:cond delay="180"/>
                </p:stCondLst>
                <p:childTnLst>
                  <p:animScale zoomContents="1">
                    <p:cBhvr additive="base">
                      <p:cTn id="17" dur="1300" fill="hold" decel="50000"/>
                      <p:tgtEl>
                        <p:spTgt spid="3"/>
                      </p:tgtEl>
                      <p:attrNameLst>
                        <p:attrName>ppt_w</p:attrName>
                        <p:attrName>ppt_h</p:attrName>
                      </p:attrNameLst>
                    </p:cBhvr>
                    <p:from x="108000" y="108000"/>
                    <p:to x="100000" y="100000"/>
                  </p:animScale>
                </p:childTnLst>
              </p:cTn>
            </p:par>
          </p:childTnLst>
        </p:cTn>
      </p:par>
    </p:tnLst>
    <p:bldLst>
      <p:bldP spid="17" grpId="0" build="whole" animBg="1"/>
      <p:bldP spid="2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  <p:bldP spid="15" grpId="0" build="whole" animBg="1"/>
    </p:bldLst>
  </p:timing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0610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2">
            <a:extLst xmlns:a="http://schemas.openxmlformats.org/drawingml/2006/main">
              <a:ext uri="{FF2B5EF4-FFF2-40B4-BE49-F238E27FC236}">
                <a16:creationId xmlns:a16="http://schemas.microsoft.com/office/drawing/2014/main" id="{D3C6DFAB-C789-494E-ACAA-2D016056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31D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D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DFFF"/>
                </a:solidFill>
                <a:latin typeface="Arial"/>
                <a:ea typeface="Arial"/>
                <a:cs typeface="Arial"/>
              </a:rPr>
              <a:t>ДОБЫЧА / 2024</a:t>
            </a:r>
          </a:p>
        </p:txBody>
      </p:sp>
      <p:sp>
        <p:nvSpPr>
          <p:cNvPr id="2" name="text-23">
            <a:extLst xmlns:a="http://schemas.openxmlformats.org/drawingml/2006/main">
              <a:ext uri="{FF2B5EF4-FFF2-40B4-BE49-F238E27FC236}">
                <a16:creationId xmlns:a16="http://schemas.microsoft.com/office/drawing/2014/main" id="{81399292-C0B9-487F-A3D9-2E2E8F29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019175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675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675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6675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ТОП 10</a:t>
            </a:r>
          </a:p>
        </p:txBody>
      </p:sp>
      <p:sp>
        <p:nvSpPr>
          <p:cNvPr id="3" name="text-24">
            <a:extLst xmlns:a="http://schemas.openxmlformats.org/drawingml/2006/main">
              <a:ext uri="{FF2B5EF4-FFF2-40B4-BE49-F238E27FC236}">
                <a16:creationId xmlns:a16="http://schemas.microsoft.com/office/drawing/2014/main" id="{2CD6D58E-4293-4A51-AE29-123B382E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905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стран по добыче нефти</a:t>
            </a:r>
          </a:p>
        </p:txBody>
      </p:sp>
      <p:sp>
        <p:nvSpPr>
          <p:cNvPr id="4" name="text-25">
            <a:extLst xmlns:a="http://schemas.openxmlformats.org/drawingml/2006/main">
              <a:ext uri="{FF2B5EF4-FFF2-40B4-BE49-F238E27FC236}">
                <a16:creationId xmlns:a16="http://schemas.microsoft.com/office/drawing/2014/main" id="{A115273A-D767-4890-8D13-25562AD5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409950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650" b="1">
                <a:solidFill>
                  <a:srgbClr val="DBFF68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650" b="1">
                <a:solidFill>
                  <a:srgbClr val="DBFF68"/>
                </a:solidFill>
                <a:latin typeface="Cambria"/>
                <a:ea typeface="Cambria"/>
                <a:cs typeface="Cambria"/>
              </a:defRPr>
            </a:pPr>
            <a:r>
              <a:rPr sz="7650" b="1">
                <a:solidFill>
                  <a:srgbClr val="DBFF68"/>
                </a:solidFill>
                <a:latin typeface="Cambria"/>
                <a:ea typeface="Cambria"/>
                <a:cs typeface="Cambria"/>
              </a:rPr>
              <a:t>18,9%</a:t>
            </a:r>
          </a:p>
        </p:txBody>
      </p:sp>
      <p:sp>
        <p:nvSpPr>
          <p:cNvPr id="5" name="text-26">
            <a:extLst xmlns:a="http://schemas.openxmlformats.org/drawingml/2006/main">
              <a:ext uri="{FF2B5EF4-FFF2-40B4-BE49-F238E27FC236}">
                <a16:creationId xmlns:a16="http://schemas.microsoft.com/office/drawing/2014/main" id="{91BF2AA9-F7F3-48EB-B44C-82EA200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6F2"/>
                </a:solidFill>
                <a:latin typeface="Arial"/>
                <a:ea typeface="Arial"/>
                <a:cs typeface="Arial"/>
              </a:rPr>
              <a:t>США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C6D6F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6D6F2"/>
                </a:solidFill>
                <a:latin typeface="Arial"/>
                <a:ea typeface="Arial"/>
                <a:cs typeface="Arial"/>
              </a:rPr>
              <a:t>доля в мировой добыче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154A618-8D37-4A69-8F62-433C69DE7CB5}"/>
              </a:ext>
            </a:extLst>
          </p:cNvPr>
          <p:cNvGraphicFramePr/>
          <p:nvPr/>
        </p:nvGraphicFramePr>
        <p:xfrm>
          <a:off xmlns:a="http://schemas.openxmlformats.org/drawingml/2006/main" x="4400550" y="1200150"/>
          <a:ext xmlns:a="http://schemas.openxmlformats.org/drawingml/2006/main" cx="7181850" cy="4591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95b57924c746ba"/>
          </a:graphicData>
        </a:graphic>
      </p:graphicFrame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160566D5-DE65-4D72-94A0-BDBCDE5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ADC2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DC2E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DC2E0"/>
                </a:solidFill>
                <a:latin typeface="Arial"/>
                <a:ea typeface="Arial"/>
                <a:cs typeface="Arial"/>
              </a:rPr>
              <a:t>Доли по энергетическому эквиваленту добычи.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ADC2E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DC2E0"/>
                </a:solidFill>
                <a:latin typeface="Arial"/>
                <a:ea typeface="Arial"/>
                <a:cs typeface="Arial"/>
              </a:rPr>
              <a:t>Источник: Energy Institute (2025), Our World in Data.</a:t>
            </a: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F189589F-1D5D-4533-AF9E-76DC95E0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FDDFF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</p:spTree>
    <p:extLst>
      <p:ext uri="{BB962C8B-B14F-4D97-AF65-F5344CB8AC3E}">
        <p14:creationId xmlns:p14="http://schemas.microsoft.com/office/powerpoint/2010/main" val="69065744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8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800" fill="hold" decel="7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 grpId="0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 additive="base">
                                        <p:cTn id="1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1" dur="95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950" fill="hold" decel="7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88888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 grpId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 additive="base"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5" dur="8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800" fill="hold" decel="7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 grpId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 additive="base"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9" dur="8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800" fill="hold" decel="7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 grpId="0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 additive="base"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3" dur="8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800" fill="hold" decel="7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 grpId="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 additive="base">
                                        <p:cTn id="26" dur="1" fill="hold"/>
                                        <p:tgtEl>
                                          <p:spTgt spid="6">
                                            <p:graphicEl>
                                              <a:chart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chart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 grpId="0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 additive="base">
                                        <p:cTn id="29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9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0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9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 grpId="0">
                                  <p:stCondLst>
                                    <p:cond delay="255"/>
                                  </p:stCondLst>
                                  <p:childTnLst>
                                    <p:set>
                                      <p:cBhvr additive="base">
                                        <p:cTn id="32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8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3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8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 grpId="0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 additive="base">
                                        <p:cTn id="35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7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6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7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 grpId="0">
                                  <p:stCondLst>
                                    <p:cond delay="425"/>
                                  </p:stCondLst>
                                  <p:childTnLst>
                                    <p:set>
                                      <p:cBhvr additive="base">
                                        <p:cTn id="38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6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39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6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 grpId="0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 additive="base">
                                        <p:cTn id="41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5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2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5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 grpId="0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 additive="base">
                                        <p:cTn id="44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4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5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4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 grpId="0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 additive="base">
                                        <p:cTn id="47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3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48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3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 grpId="0">
                                  <p:stCondLst>
                                    <p:cond delay="765"/>
                                  </p:stCondLst>
                                  <p:childTnLst>
                                    <p:set>
                                      <p:cBhvr additive="base">
                                        <p:cTn id="50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2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51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2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 grpId="0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 additive="base">
                                        <p:cTn id="53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1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54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1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 grpId="0">
                                  <p:stCondLst>
                                    <p:cond delay="935"/>
                                  </p:stCondLst>
                                  <p:childTnLst>
                                    <p:set>
                                      <p:cBhvr additive="base">
                                        <p:cTn id="56" dur="1" fill="hold"/>
                                        <p:tgtEl>
                                          <p:spTgt spid="6">
                                            <p:graphicEl>
                                              <a:chart bldStep="category" categoryIdx="0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base">
                                        <p:cTn id="57" dur="1100" fill="hold"/>
                                        <p:tgtEl>
                                          <p:spTgt spid="6">
                                            <p:graphicEl>
                                              <a:chart bldStep="category" categoryIdx="0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 animBg="1"/>
      <p:bldP spid="2" grpId="0" build="whole" animBg="1"/>
      <p:bldP spid="3" grpId="0" build="whole" animBg="1"/>
      <p:bldP spid="4" grpId="0" build="whole" animBg="1"/>
      <p:bldP spid="5" grpId="0" build="whole" animBg="1"/>
      <p:bldGraphic spid="6" grpId="0">
        <p:bldSub>
          <a:bldChart bld="category" animBg="0"/>
        </p:bldSub>
      </p:bldGraphic>
    </p:bldLst>
  </p:timing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F5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9">
            <a:extLst xmlns:a="http://schemas.openxmlformats.org/drawingml/2006/main">
              <a:ext uri="{FF2B5EF4-FFF2-40B4-BE49-F238E27FC236}">
                <a16:creationId xmlns:a16="http://schemas.microsoft.com/office/drawing/2014/main" id="{BDB3E76C-D7B8-4F0B-902B-DABBE29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334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225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6225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pPr>
            <a:r>
              <a:rPr sz="6225" b="1">
                <a:solidFill>
                  <a:srgbClr val="061026"/>
                </a:solidFill>
                <a:latin typeface="Cambria"/>
                <a:ea typeface="Cambria"/>
                <a:cs typeface="Cambria"/>
              </a:rPr>
              <a:t>Нефть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6225" b="1">
                <a:solidFill>
                  <a:srgbClr val="061026"/>
                </a:solidFill>
                <a:latin typeface="Cambria"/>
                <a:ea typeface="Cambria"/>
                <a:cs typeface="Cambria"/>
              </a:defRPr>
            </a:pPr>
            <a:r>
              <a:rPr sz="6225" b="1">
                <a:solidFill>
                  <a:srgbClr val="061026"/>
                </a:solidFill>
                <a:latin typeface="Cambria"/>
                <a:ea typeface="Cambria"/>
                <a:cs typeface="Cambria"/>
              </a:rPr>
              <a:t>в вещах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0D4A63D1-3FB2-4E0D-B744-B9D2CF79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38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ПРИМЕНЕНИЕ КРОМЕ ТОПЛИВА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26B8B-8E94-45B8-93B4-2153D1C8B5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031c8d27e4b3a"/>
          <a:stretch xmlns:a="http://schemas.openxmlformats.org/drawingml/2006/main"/>
        </p:blipFill>
        <p:spPr>
          <a:xfrm xmlns:a="http://schemas.openxmlformats.org/drawingml/2006/main">
            <a:off x="1295400" y="2952750"/>
            <a:ext cx="3295650" cy="3295650"/>
          </a:xfrm>
          <a:prstGeom xmlns:a="http://schemas.openxmlformats.org/drawingml/2006/main" prst="rect">
            <a:avLst/>
          </a:prstGeom>
        </p:spPr>
      </p:pic>
      <p:sp>
        <p:nvSpPr>
          <p:cNvPr id="4" name="text-31">
            <a:extLst xmlns:a="http://schemas.openxmlformats.org/drawingml/2006/main">
              <a:ext uri="{FF2B5EF4-FFF2-40B4-BE49-F238E27FC236}">
                <a16:creationId xmlns:a16="http://schemas.microsoft.com/office/drawing/2014/main" id="{0486E3DE-B14C-4964-90DC-3344470D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6675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Пластмассы</a:t>
            </a:r>
          </a:p>
        </p:txBody>
      </p:sp>
      <p:sp>
        <p:nvSpPr>
          <p:cNvPr id="5" name="text-32">
            <a:extLst xmlns:a="http://schemas.openxmlformats.org/drawingml/2006/main">
              <a:ext uri="{FF2B5EF4-FFF2-40B4-BE49-F238E27FC236}">
                <a16:creationId xmlns:a16="http://schemas.microsoft.com/office/drawing/2014/main" id="{BEE9EDF1-0B46-4A1D-B820-CA9BE583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10490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Упаковка и корпуса приборов</a:t>
            </a:r>
          </a:p>
        </p:txBody>
      </p:sp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711D9856-A31B-4E36-82CB-6217209D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Синтетические волокна</a:t>
            </a:r>
          </a:p>
        </p:txBody>
      </p:sp>
      <p:sp>
        <p:nvSpPr>
          <p:cNvPr id="7" name="text-34">
            <a:extLst xmlns:a="http://schemas.openxmlformats.org/drawingml/2006/main">
              <a:ext uri="{FF2B5EF4-FFF2-40B4-BE49-F238E27FC236}">
                <a16:creationId xmlns:a16="http://schemas.microsoft.com/office/drawing/2014/main" id="{21388BD5-43D0-4A79-9BEA-3731B8E6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9775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Полиэстер и нейлон</a:t>
            </a:r>
          </a:p>
        </p:txBody>
      </p:sp>
      <p:sp>
        <p:nvSpPr>
          <p:cNvPr id="8" name="text-35">
            <a:extLst xmlns:a="http://schemas.openxmlformats.org/drawingml/2006/main">
              <a:ext uri="{FF2B5EF4-FFF2-40B4-BE49-F238E27FC236}">
                <a16:creationId xmlns:a16="http://schemas.microsoft.com/office/drawing/2014/main" id="{C10D3834-FD6F-4264-BA34-2D28879D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Синтетический каучук</a:t>
            </a:r>
          </a:p>
        </p:txBody>
      </p:sp>
      <p:sp>
        <p:nvSpPr>
          <p:cNvPr id="9" name="text-36">
            <a:extLst xmlns:a="http://schemas.openxmlformats.org/drawingml/2006/main">
              <a:ext uri="{FF2B5EF4-FFF2-40B4-BE49-F238E27FC236}">
                <a16:creationId xmlns:a16="http://schemas.microsoft.com/office/drawing/2014/main" id="{7F25E67B-D247-4F4D-8334-FD26BBF5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Шины и уплотнители</a:t>
            </a:r>
          </a:p>
        </p:txBody>
      </p:sp>
      <p:sp>
        <p:nvSpPr>
          <p:cNvPr id="10" name="text-37">
            <a:extLst xmlns:a="http://schemas.openxmlformats.org/drawingml/2006/main">
              <a:ext uri="{FF2B5EF4-FFF2-40B4-BE49-F238E27FC236}">
                <a16:creationId xmlns:a16="http://schemas.microsoft.com/office/drawing/2014/main" id="{63E9C41B-F5EE-4246-A5C7-DF63EFAD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81375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Битум</a:t>
            </a:r>
          </a:p>
        </p:txBody>
      </p:sp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9482CBEB-3C8F-41C9-91EA-D61950F9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9525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Асфальт и гидроизоляция</a:t>
            </a:r>
          </a:p>
        </p:txBody>
      </p:sp>
      <p:sp>
        <p:nvSpPr>
          <p:cNvPr id="12" name="text-39">
            <a:extLst xmlns:a="http://schemas.openxmlformats.org/drawingml/2006/main">
              <a:ext uri="{FF2B5EF4-FFF2-40B4-BE49-F238E27FC236}">
                <a16:creationId xmlns:a16="http://schemas.microsoft.com/office/drawing/2014/main" id="{511A3BD9-9793-435F-8783-B2D50C94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86250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Смазочные материалы</a:t>
            </a:r>
          </a:p>
        </p:txBody>
      </p:sp>
      <p:sp>
        <p:nvSpPr>
          <p:cNvPr id="13" name="text-40">
            <a:extLst xmlns:a="http://schemas.openxmlformats.org/drawingml/2006/main">
              <a:ext uri="{FF2B5EF4-FFF2-40B4-BE49-F238E27FC236}">
                <a16:creationId xmlns:a16="http://schemas.microsoft.com/office/drawing/2014/main" id="{960CFDB0-6265-406E-BA02-C6B41192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24400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Масла для механизмов</a:t>
            </a:r>
          </a:p>
        </p:txBody>
      </p:sp>
      <p:sp>
        <p:nvSpPr>
          <p:cNvPr id="14" name="text-41">
            <a:extLst xmlns:a="http://schemas.openxmlformats.org/drawingml/2006/main">
              <a:ext uri="{FF2B5EF4-FFF2-40B4-BE49-F238E27FC236}">
                <a16:creationId xmlns:a16="http://schemas.microsoft.com/office/drawing/2014/main" id="{B4055DE9-8F35-416C-873E-5A89D9FA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91125"/>
            <a:ext cx="544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558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58FF"/>
                </a:solidFill>
                <a:latin typeface="Arial"/>
                <a:ea typeface="Arial"/>
                <a:cs typeface="Arial"/>
              </a:rPr>
              <a:t>Химические продукты</a:t>
            </a:r>
          </a:p>
        </p:txBody>
      </p:sp>
      <p:sp>
        <p:nvSpPr>
          <p:cNvPr id="15" name="text-42">
            <a:extLst xmlns:a="http://schemas.openxmlformats.org/drawingml/2006/main">
              <a:ext uri="{FF2B5EF4-FFF2-40B4-BE49-F238E27FC236}">
                <a16:creationId xmlns:a16="http://schemas.microsoft.com/office/drawing/2014/main" id="{CD520DC0-CC23-4D60-A358-2368F5FC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29275"/>
            <a:ext cx="544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6102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61026"/>
                </a:solidFill>
                <a:latin typeface="Arial"/>
                <a:ea typeface="Arial"/>
                <a:cs typeface="Arial"/>
              </a:rPr>
              <a:t>Краски, растворители, парафин</a:t>
            </a:r>
          </a:p>
        </p:txBody>
      </p:sp>
      <p:sp>
        <p:nvSpPr>
          <p:cNvPr id="16" name="text-43">
            <a:extLst xmlns:a="http://schemas.openxmlformats.org/drawingml/2006/main">
              <a:ext uri="{FF2B5EF4-FFF2-40B4-BE49-F238E27FC236}">
                <a16:creationId xmlns:a16="http://schemas.microsoft.com/office/drawing/2014/main" id="{2D423936-9CEB-4C31-ADB9-90C58438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Часть этих материалов также получают из газа и другого сырья.</a:t>
            </a:r>
          </a:p>
        </p:txBody>
      </p:sp>
      <p:sp>
        <p:nvSpPr>
          <p:cNvPr id="17" name="text-44">
            <a:extLst xmlns:a="http://schemas.openxmlformats.org/drawingml/2006/main">
              <a:ext uri="{FF2B5EF4-FFF2-40B4-BE49-F238E27FC236}">
                <a16:creationId xmlns:a16="http://schemas.microsoft.com/office/drawing/2014/main" id="{399B9D42-8D69-4218-95FF-66FFCDBD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5B709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7091"/>
                </a:solidFill>
                <a:latin typeface="Arial"/>
                <a:ea typeface="Arial"/>
                <a:cs typeface="Arial"/>
              </a:rPr>
              <a:t>04 / 05</a:t>
            </a:r>
          </a:p>
        </p:txBody>
      </p:sp>
    </p:spTree>
    <p:extLst>
      <p:ext uri="{BB962C8B-B14F-4D97-AF65-F5344CB8AC3E}">
        <p14:creationId xmlns:p14="http://schemas.microsoft.com/office/powerpoint/2010/main" val="214237544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 grpId="0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7" dur="95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950" fill="hold" decel="7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88888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 grpId="0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 additive="base">
                                        <p:cTn id="10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1" dur="8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800" fill="hold" decel="7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 grpId="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 additive="base"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5" dur="9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 grpId="0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 additive="base">
                                        <p:cTn id="1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0" dur="8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800" fill="hold" decel="7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 grpId="0">
                                  <p:stCondLst>
                                    <p:cond delay="395"/>
                                  </p:stCondLst>
                                  <p:childTnLst>
                                    <p:set>
                                      <p:cBhvr additive="base">
                                        <p:cTn id="23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4" dur="8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 decel="7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 grpId="0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 additive="base">
                                        <p:cTn id="2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8" dur="8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800" fill="hold" decel="7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 grpId="0">
                                  <p:stCondLst>
                                    <p:cond delay="535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2" dur="8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800" fill="hold" decel="7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 grpId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 additive="base">
                                        <p:cTn id="35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6" dur="8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800" fill="hold" decel="7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 grpId="0">
                                  <p:stCondLst>
                                    <p:cond delay="675"/>
                                  </p:stCondLst>
                                  <p:childTnLst>
                                    <p:set>
                                      <p:cBhvr additive="base">
                                        <p:cTn id="39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0" dur="8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800" fill="hold" decel="7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 grpId="0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 additive="base">
                                        <p:cTn id="4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4" dur="8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800" fill="hold" decel="7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 grpId="0">
                                  <p:stCondLst>
                                    <p:cond delay="815"/>
                                  </p:stCondLst>
                                  <p:childTnLst>
                                    <p:set>
                                      <p:cBhvr additive="base">
                                        <p:cTn id="4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8" dur="8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800" fill="hold" decel="7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 grpId="0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 additive="base">
                                        <p:cTn id="5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2" dur="8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800" fill="hold" decel="7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 grpId="0">
                                  <p:stCondLst>
                                    <p:cond delay="955"/>
                                  </p:stCondLst>
                                  <p:childTnLst>
                                    <p:set>
                                      <p:cBhvr additive="base">
                                        <p:cTn id="5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56" dur="8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800" fill="hold" decel="7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 grpId="0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 additive="base">
                                        <p:cTn id="5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60" dur="8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800" fill="hold" decel="7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 grpId="0">
                                  <p:stCondLst>
                                    <p:cond delay="1095"/>
                                  </p:stCondLst>
                                  <p:childTnLst>
                                    <p:set>
                                      <p:cBhvr additive="base">
                                        <p:cTn id="6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64" dur="8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800" fill="hold" decel="7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16" presetID="0" presetClass="path" presetSubtype="0" fill="hold" nodeType="withEffect">
                <p:stCondLst>
                  <p:cond delay="1050"/>
                </p:stCondLst>
                <p:childTnLst>
                  <p:animMotion origin="layout" pathEditMode="relative" path="M 0 0 L 0 -0.0125 E" ptsTypes="AA">
                    <p:cBhvr additive="base">
                      <p:cTn id="17" dur="3000" fill="hold" autoRev="1" repeatCount="indefinite" accel="50000" decel="50000"/>
                      <p:tgtEl>
                        <p:spTgt spid="3"/>
                      </p:tgtEl>
                      <p:attrNameLst>
                        <p:attrName>ppt_x</p:attrName>
                        <p:attrName>ppt_y</p:attrName>
                      </p:attrNameLst>
                    </p:cBhvr>
                  </p:animMotion>
                </p:childTnLst>
              </p:cTn>
            </p:par>
          </p:childTnLst>
        </p:cTn>
      </p:par>
    </p:tnLst>
    <p:bldLst>
      <p:bldP spid="18" grpId="0" build="whole" animBg="1"/>
      <p:bldP spid="2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  <p:bldP spid="14" grpId="0" build="whole" animBg="1"/>
      <p:bldP spid="15" grpId="0" build="whole" animBg="1"/>
    </p:bldLst>
  </p:timing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 xmlns:a="http://schemas.openxmlformats.org/drawingml/2006/main">
          <a:srgbClr val="155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FA8FC-97AA-4541-8FDE-E5900C5F88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ef1bbe7314681"/>
          <a:srcRect xmlns:a="http://schemas.openxmlformats.org/drawingml/2006/main" l="20399" t="0" r="203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</p:spPr>
      </p:pic>
      <p:sp xmlns:p="http://schemas.openxmlformats.org/presentationml/2006/main" xmlns:a="http://schemas.openxmlformats.org/drawingml/2006/main">
        <p:nvSpPr>
          <p:cNvPr id="100" name="Photo frame right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558FF"/>
          </a:solidFill>
          <a:ln>
            <a:noFill/>
          </a:ln>
        </p:spPr>
      </p:sp>
      <p:sp>
        <p:nvSpPr>
          <p:cNvPr id="2" name="surface-45">
            <a:extLst xmlns:a="http://schemas.openxmlformats.org/drawingml/2006/main">
              <a:ext uri="{FF2B5EF4-FFF2-40B4-BE49-F238E27FC236}">
                <a16:creationId xmlns:a16="http://schemas.microsoft.com/office/drawing/2014/main" id="{7E171F7E-475B-47AB-A472-C35EBC17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6096000" cy="2857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026">
                  <a:alpha val="0"/>
                </a:srgbClr>
              </a:gs>
              <a:gs pos="100000">
                <a:srgbClr val="061026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29343666-A7CA-424F-B3E4-2606316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Безопасная эксплуатация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CC11813E-005B-4980-9C3C-9D5DFF40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DAE9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DAE9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AE9FF"/>
                </a:solidFill>
                <a:latin typeface="Arial"/>
                <a:ea typeface="Arial"/>
                <a:cs typeface="Arial"/>
              </a:rPr>
              <a:t>Контроль оборудования и утечек</a:t>
            </a:r>
          </a:p>
        </p:txBody>
      </p:sp>
      <p:sp>
        <p:nvSpPr>
          <p:cNvPr id="5" name="text-48">
            <a:extLst xmlns:a="http://schemas.openxmlformats.org/drawingml/2006/main">
              <a:ext uri="{FF2B5EF4-FFF2-40B4-BE49-F238E27FC236}">
                <a16:creationId xmlns:a16="http://schemas.microsoft.com/office/drawing/2014/main" id="{776555DE-4796-43FA-8666-8193AC48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"/>
            <a:ext cx="487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BFF68"/>
                </a:solidFill>
                <a:latin typeface="Arial"/>
                <a:ea typeface="Arial"/>
                <a:cs typeface="Arial"/>
              </a:rPr>
              <a:t>ЭКОЛОГИЯ</a:t>
            </a:r>
          </a:p>
        </p:txBody>
      </p:sp>
      <p:sp>
        <p:nvSpPr>
          <p:cNvPr id="6" name="text-49">
            <a:extLst xmlns:a="http://schemas.openxmlformats.org/drawingml/2006/main">
              <a:ext uri="{FF2B5EF4-FFF2-40B4-BE49-F238E27FC236}">
                <a16:creationId xmlns:a16="http://schemas.microsoft.com/office/drawing/2014/main" id="{4846C671-AAA9-45E7-8CD2-B5D6EE6E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90600"/>
            <a:ext cx="48768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5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Нефть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5100" b="1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5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и природа</a:t>
            </a:r>
          </a:p>
        </p:txBody>
      </p:sp>
      <p:sp>
        <p:nvSpPr>
          <p:cNvPr id="7" name="text-50">
            <a:extLst xmlns:a="http://schemas.openxmlformats.org/drawingml/2006/main">
              <a:ext uri="{FF2B5EF4-FFF2-40B4-BE49-F238E27FC236}">
                <a16:creationId xmlns:a16="http://schemas.microsoft.com/office/drawing/2014/main" id="{E2E76686-EC62-4274-AF84-7E8A5BB9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28925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Разливы</a:t>
            </a:r>
          </a:p>
        </p:txBody>
      </p:sp>
      <p:sp>
        <p:nvSpPr>
          <p:cNvPr id="8" name="text-51">
            <a:extLst xmlns:a="http://schemas.openxmlformats.org/drawingml/2006/main">
              <a:ext uri="{FF2B5EF4-FFF2-40B4-BE49-F238E27FC236}">
                <a16:creationId xmlns:a16="http://schemas.microsoft.com/office/drawing/2014/main" id="{DF90A505-5D38-43BA-87A1-6AEF03EC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E4FF"/>
                </a:solidFill>
                <a:latin typeface="Arial"/>
                <a:ea typeface="Arial"/>
                <a:cs typeface="Arial"/>
              </a:rPr>
              <a:t>Загрязняют воду и почву</a:t>
            </a:r>
          </a:p>
        </p:txBody>
      </p:sp>
      <p:sp>
        <p:nvSpPr>
          <p:cNvPr id="9" name="text-52">
            <a:extLst xmlns:a="http://schemas.openxmlformats.org/drawingml/2006/main">
              <a:ext uri="{FF2B5EF4-FFF2-40B4-BE49-F238E27FC236}">
                <a16:creationId xmlns:a16="http://schemas.microsoft.com/office/drawing/2014/main" id="{20DCA783-C8BE-4BEA-B6E0-1C1FBF78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Сжигание топлива</a:t>
            </a:r>
          </a:p>
        </p:txBody>
      </p:sp>
      <p:sp>
        <p:nvSpPr>
          <p:cNvPr id="10" name="text-53">
            <a:extLst xmlns:a="http://schemas.openxmlformats.org/drawingml/2006/main">
              <a:ext uri="{FF2B5EF4-FFF2-40B4-BE49-F238E27FC236}">
                <a16:creationId xmlns:a16="http://schemas.microsoft.com/office/drawing/2014/main" id="{456FDCAB-8472-4619-B6DE-CE15F44D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9100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E4FF"/>
                </a:solidFill>
                <a:latin typeface="Arial"/>
                <a:ea typeface="Arial"/>
                <a:cs typeface="Arial"/>
              </a:rPr>
              <a:t>Выбросы углекислого газа</a:t>
            </a:r>
          </a:p>
        </p:txBody>
      </p:sp>
      <p:sp>
        <p:nvSpPr>
          <p:cNvPr id="11" name="text-54">
            <a:extLst xmlns:a="http://schemas.openxmlformats.org/drawingml/2006/main">
              <a:ext uri="{FF2B5EF4-FFF2-40B4-BE49-F238E27FC236}">
                <a16:creationId xmlns:a16="http://schemas.microsoft.com/office/drawing/2014/main" id="{9EFC768D-6FEB-4558-86D5-D7D2241C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487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Пластиковые отходы</a:t>
            </a:r>
          </a:p>
        </p:txBody>
      </p:sp>
      <p:sp>
        <p:nvSpPr>
          <p:cNvPr id="12" name="text-55">
            <a:extLst xmlns:a="http://schemas.openxmlformats.org/drawingml/2006/main">
              <a:ext uri="{FF2B5EF4-FFF2-40B4-BE49-F238E27FC236}">
                <a16:creationId xmlns:a16="http://schemas.microsoft.com/office/drawing/2014/main" id="{361D1924-5796-4CE2-B368-079FD50B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487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2E4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2E4FF"/>
                </a:solidFill>
                <a:latin typeface="Arial"/>
                <a:ea typeface="Arial"/>
                <a:cs typeface="Arial"/>
              </a:rPr>
              <a:t>Накапливаются в природе</a:t>
            </a:r>
          </a:p>
        </p:txBody>
      </p:sp>
      <p:sp>
        <p:nvSpPr>
          <p:cNvPr id="13" name="text-56">
            <a:extLst xmlns:a="http://schemas.openxmlformats.org/drawingml/2006/main">
              <a:ext uri="{FF2B5EF4-FFF2-40B4-BE49-F238E27FC236}">
                <a16:creationId xmlns:a16="http://schemas.microsoft.com/office/drawing/2014/main" id="{5E126C1F-C2EA-4225-896F-F8627846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72150"/>
            <a:ext cx="4876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BFF68"/>
                </a:solidFill>
                <a:latin typeface="Arial"/>
                <a:ea typeface="Arial"/>
                <a:cs typeface="Arial"/>
              </a:rPr>
              <a:t>Собирать и перерабатывать материалы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DBFF6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BFF68"/>
                </a:solidFill>
                <a:latin typeface="Arial"/>
                <a:ea typeface="Arial"/>
                <a:cs typeface="Arial"/>
              </a:rPr>
              <a:t>после использования</a:t>
            </a:r>
          </a:p>
        </p:txBody>
      </p:sp>
      <p:sp>
        <p:nvSpPr>
          <p:cNvPr id="14" name="text-57">
            <a:extLst xmlns:a="http://schemas.openxmlformats.org/drawingml/2006/main">
              <a:ext uri="{FF2B5EF4-FFF2-40B4-BE49-F238E27FC236}">
                <a16:creationId xmlns:a16="http://schemas.microsoft.com/office/drawing/2014/main" id="{FD8B2B09-A6F7-4D0C-AE0F-BB9EB9C7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275" b="0">
                <a:solidFill>
                  <a:srgbClr val="CFDD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FDDFF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  <p:extLst>
      <p:ext uri="{BB962C8B-B14F-4D97-AF65-F5344CB8AC3E}">
        <p14:creationId xmlns:p14="http://schemas.microsoft.com/office/powerpoint/2010/main" val="53601163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0" presetClass="entr" presetSubtype="0" fill="hold" nodeType="withEffect" grpId="0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 additive="base">
                                        <p:cTn id="8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9" dur="8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" dur="800" fill="hold" decel="7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 grpId="0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 additive="base"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3" dur="8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800" fill="hold" decel="7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 grpId="0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17" dur="8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800" fill="hold" decel="7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 grpId="0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 additive="base"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1" dur="95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950" fill="hold" decel="7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88888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 grpId="0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 additive="base">
                                        <p:cTn id="2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5" dur="8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800" fill="hold" decel="7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 grpId="0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 additive="base">
                                        <p:cTn id="2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29" dur="8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800" fill="hold" decel="7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 grpId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 additive="base">
                                        <p:cTn id="3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3" dur="8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800" fill="hold" decel="7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 grpId="0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37" dur="8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800" fill="hold" decel="7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 grpId="0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 additive="base">
                                        <p:cTn id="4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1" dur="800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800" fill="hold" decel="7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 grpId="0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 additive="base">
                                        <p:cTn id="4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5" dur="8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800" fill="hold" decel="7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 grpId="0">
                                  <p:stCondLst>
                                    <p:cond delay="760"/>
                                  </p:stCondLst>
                                  <p:childTnLst>
                                    <p:set>
                                      <p:cBhvr additive="base">
                                        <p:cTn id="4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base">
                                        <p:cTn id="49" dur="8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800" fill="hold" decel="7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5" presetID="6" presetClass="emph" presetSubtype="0" fill="hold" nodeType="withEffect">
                <p:stCondLst>
                  <p:cond delay="0"/>
                </p:stCondLst>
                <p:childTnLst>
                  <p:animScale zoomContents="1">
                    <p:cBhvr additive="base">
                      <p:cTn id="6" dur="16000" fill="hold" decel="50000"/>
                      <p:tgtEl>
                        <p:spTgt spid="15"/>
                      </p:tgtEl>
                      <p:attrNameLst>
                        <p:attrName>ppt_w</p:attrName>
                        <p:attrName>ppt_h</p:attrName>
                      </p:attrNameLst>
                    </p:cBhvr>
                    <p:from x="105500" y="105500"/>
                    <p:to x="101500" y="101500"/>
                  </p:animScale>
                </p:childTnLst>
              </p:cTn>
            </p:par>
          </p:childTnLst>
        </p:cTn>
      </p:par>
    </p:tnLst>
    <p:bldLst>
      <p:bldP spid="3" grpId="0" build="whole" animBg="1"/>
      <p:bldP spid="4" grpId="0" build="whole" animBg="1"/>
      <p:bldP spid="5" grpId="0" build="whole" animBg="1"/>
      <p:bldP spid="6" grpId="0" build="whole" animBg="1"/>
      <p:bldP spid="7" grpId="0" build="whole" animBg="1"/>
      <p:bldP spid="8" grpId="0" build="whole" animBg="1"/>
      <p:bldP spid="9" grpId="0" build="whole" animBg="1"/>
      <p:bldP spid="10" grpId="0" build="whole" animBg="1"/>
      <p:bldP spid="11" grpId="0" build="whole" animBg="1"/>
      <p:bldP spid="12" grpId="0" build="whole" animBg="1"/>
      <p:bldP spid="13" grpId="0" build="whole" animBg="1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2026-10-24T20:45:10.5100000Z</dcterms:created>
  <dcterms:modified xsi:type="dcterms:W3CDTF">2026-10-24T20:45:10.5100000Z</dcterms:modified>
</coreProperties>
</file>